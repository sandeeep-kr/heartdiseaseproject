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457200" y="-457200"/>
            <a:ext cx="2286000" cy="22860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5029200"/>
            <a:ext cx="2743200" cy="2743200"/>
          </a:xfrm>
          <a:prstGeom prst="ellipse">
            <a:avLst/>
          </a:prstGeom>
          <a:solidFill>
            <a:srgbClr val="101014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789920" y="-914400"/>
            <a:ext cx="1371600" cy="1371600"/>
          </a:xfrm>
          <a:prstGeom prst="ellipse">
            <a:avLst/>
          </a:prstGeom>
          <a:solidFill>
            <a:srgbClr val="141418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0" y="1645920"/>
            <a:ext cx="2103120" cy="12700"/>
          </a:xfrm>
          <a:prstGeom prst="rect">
            <a:avLst/>
          </a:prstGeom>
          <a:solidFill>
            <a:srgbClr val="64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5A5A6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AFAFA"/>
                </a:solidFill>
                <a:latin typeface="Calibri"/>
              </a:defRPr>
            </a:pPr>
            <a:r>
              <a:t>Heart Disease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 i="0">
                <a:solidFill>
                  <a:srgbClr val="649CFF"/>
                </a:solidFill>
                <a:latin typeface="Calibri"/>
              </a:defRPr>
            </a:pPr>
            <a:r>
              <a:t>Using Machine Learning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E8E8EB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MCA  ·  Sikkim Manipal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834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5A5A65"/>
                </a:solidFill>
                <a:latin typeface="Calibri"/>
              </a:defRPr>
            </a:pPr>
            <a:r>
              <a:t>Guide: Amit Kharb  ·  2025–26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5760720"/>
            <a:ext cx="1280160" cy="32004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5760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649CFF"/>
                </a:solidFill>
                <a:latin typeface="Calibri"/>
              </a:defRPr>
            </a:pPr>
            <a:r>
              <a:t>Flask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5760720"/>
            <a:ext cx="1280160" cy="32004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5760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A78BFA"/>
                </a:solidFill>
                <a:latin typeface="Calibri"/>
              </a:defRPr>
            </a:pPr>
            <a:r>
              <a:t>scikit-learn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5760720"/>
            <a:ext cx="1280160" cy="32004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5760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5EE0C5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5760720"/>
            <a:ext cx="1280160" cy="32004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9560" y="5760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FB86C"/>
                </a:solidFill>
                <a:latin typeface="Calibri"/>
              </a:defRPr>
            </a:pPr>
            <a:r>
              <a:t>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3657600"/>
            <a:ext cx="3200400" cy="32004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371600"/>
            <a:ext cx="2286000" cy="2286000"/>
          </a:xfrm>
          <a:prstGeom prst="ellipse">
            <a:avLst/>
          </a:prstGeom>
          <a:solidFill>
            <a:srgbClr val="101014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64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3657600" cy="25603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 i="0">
                <a:solidFill>
                  <a:srgbClr val="FF6B8A"/>
                </a:solidFill>
                <a:latin typeface="Calibri"/>
              </a:defRPr>
            </a:pPr>
            <a:r>
              <a:t>17.9M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B8B96"/>
                </a:solidFill>
                <a:latin typeface="Calibri"/>
              </a:defRPr>
            </a:pPr>
            <a:r>
              <a:t>deaths per year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8E8EB"/>
                </a:solidFill>
                <a:latin typeface="Calibri"/>
              </a:defRPr>
            </a:pPr>
            <a:r>
              <a:t>cardiovascular diseases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5A5A65"/>
                </a:solidFill>
                <a:latin typeface="Calibri"/>
              </a:defRPr>
            </a:pPr>
            <a:r>
              <a:t>#1 cause of death globally — WHO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011680"/>
            <a:ext cx="6217920" cy="12801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B86C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51460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Diagnostic tests run ₹15,000–₹50,000+.</a:t>
            </a:r>
            <a:br/>
            <a:r>
              <a:t>Out of reach for most rural patients.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3474720"/>
            <a:ext cx="6217920" cy="12801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3611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649CFF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97764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Multiple hospital visits, specialist</a:t>
            </a:r>
            <a:br/>
            <a:r>
              <a:t>waitlists, delayed lab results.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4937760"/>
            <a:ext cx="6217920" cy="12801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5074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5EE0C5"/>
                </a:solidFill>
                <a:latin typeface="Calibri"/>
              </a:defRPr>
            </a:pPr>
            <a:r>
              <a:t>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44068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70% of India lacks nearby</a:t>
            </a:r>
            <a:br/>
            <a:r>
              <a:t>cardiac diagnostic facilities.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8E8EB"/>
                </a:solidFill>
                <a:latin typeface="Calibri"/>
              </a:defRPr>
            </a:pPr>
            <a:r>
              <a:t>CardioPredict: a machine learning screening tool that works with just 13 routine clinical parameters.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515600" y="4572000"/>
            <a:ext cx="2743200" cy="27432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What We Set Out To Do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874519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288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Analyse  </a:t>
            </a:r>
            <a:r>
              <a:rPr sz="1500">
                <a:solidFill>
                  <a:srgbClr val="8B8B96"/>
                </a:solidFill>
                <a:latin typeface="Calibri"/>
              </a:rPr>
              <a:t>the Cleveland dataset — 303 patients, 13 clinical features, binary target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532887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32887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8716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Compare  </a:t>
            </a:r>
            <a:r>
              <a:rPr sz="1500">
                <a:solidFill>
                  <a:srgbClr val="8B8B96"/>
                </a:solidFill>
                <a:latin typeface="Calibri"/>
              </a:rPr>
              <a:t>seven ML models head-to-head with 10-fold cross-validation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191256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19125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14553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Build  </a:t>
            </a:r>
            <a:r>
              <a:rPr sz="1500">
                <a:solidFill>
                  <a:srgbClr val="8B8B96"/>
                </a:solidFill>
                <a:latin typeface="Calibri"/>
              </a:rPr>
              <a:t>a full-stack Flask web app that non-technical clinicians can actually use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849624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84962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80390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Validate  </a:t>
            </a:r>
            <a:r>
              <a:rPr sz="1500">
                <a:solidFill>
                  <a:srgbClr val="8B8B96"/>
                </a:solidFill>
                <a:latin typeface="Calibri"/>
              </a:rPr>
              <a:t>inputs on both browser and server side — no bad data gets through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4507992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079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6227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Store  </a:t>
            </a:r>
            <a:r>
              <a:rPr sz="1500">
                <a:solidFill>
                  <a:srgbClr val="8B8B96"/>
                </a:solidFill>
                <a:latin typeface="Calibri"/>
              </a:rPr>
              <a:t>every prediction in SQLite for longitudinal patient tracking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166359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66359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120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Ship  </a:t>
            </a:r>
            <a:r>
              <a:rPr sz="1500">
                <a:solidFill>
                  <a:srgbClr val="8B8B96"/>
                </a:solidFill>
                <a:latin typeface="Calibri"/>
              </a:rPr>
              <a:t>inside Docker containers ready for any hospital server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" y="5824728"/>
            <a:ext cx="365760" cy="3657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247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779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8EB"/>
                </a:solidFill>
                <a:latin typeface="Calibri"/>
              </a:defRPr>
            </a:pPr>
            <a:r>
              <a:rPr sz="1600" b="1">
                <a:solidFill>
                  <a:srgbClr val="A78BFA"/>
                </a:solidFill>
                <a:latin typeface="Calibri"/>
              </a:rPr>
              <a:t>Test  </a:t>
            </a:r>
            <a:r>
              <a:rPr sz="1500">
                <a:solidFill>
                  <a:srgbClr val="8B8B96"/>
                </a:solidFill>
                <a:latin typeface="Calibri"/>
              </a:rPr>
              <a:t>with 28 automated test cases covering routes, predictions, and edge cases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2743200" cy="27432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5EE0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The Data</a:t>
            </a:r>
          </a:p>
        </p:txBody>
      </p:sp>
      <p:sp>
        <p:nvSpPr>
          <p:cNvPr id="6" name="Oval 5"/>
          <p:cNvSpPr/>
          <p:nvPr/>
        </p:nvSpPr>
        <p:spPr>
          <a:xfrm>
            <a:off x="960120" y="1828800"/>
            <a:ext cx="1280160" cy="12801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649CFF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8B96"/>
                </a:solidFill>
                <a:latin typeface="Calibri"/>
              </a:defRPr>
            </a:pPr>
            <a:r>
              <a:t>patients</a:t>
            </a:r>
          </a:p>
        </p:txBody>
      </p:sp>
      <p:sp>
        <p:nvSpPr>
          <p:cNvPr id="9" name="Oval 8"/>
          <p:cNvSpPr/>
          <p:nvPr/>
        </p:nvSpPr>
        <p:spPr>
          <a:xfrm>
            <a:off x="2788920" y="1828800"/>
            <a:ext cx="1280160" cy="12801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011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A78BFA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4688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8B96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2" name="Oval 11"/>
          <p:cNvSpPr/>
          <p:nvPr/>
        </p:nvSpPr>
        <p:spPr>
          <a:xfrm>
            <a:off x="4617720" y="1828800"/>
            <a:ext cx="1280160" cy="12801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11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5EE0C5"/>
                </a:solidFill>
                <a:latin typeface="Calibri"/>
              </a:defRPr>
            </a:pPr>
            <a:r>
              <a:t>80/20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688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8B96"/>
                </a:solidFill>
                <a:latin typeface="Calibri"/>
              </a:defRPr>
            </a:pPr>
            <a:r>
              <a:t>train/test</a:t>
            </a:r>
          </a:p>
        </p:txBody>
      </p:sp>
      <p:sp>
        <p:nvSpPr>
          <p:cNvPr id="15" name="Oval 14"/>
          <p:cNvSpPr/>
          <p:nvPr/>
        </p:nvSpPr>
        <p:spPr>
          <a:xfrm>
            <a:off x="6446520" y="1828800"/>
            <a:ext cx="1280160" cy="12801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4ADE80"/>
                </a:solidFill>
                <a:latin typeface="Calibri"/>
              </a:defRPr>
            </a:pPr>
            <a:r>
              <a:t>0 nulls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4688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8B8B96"/>
                </a:solidFill>
                <a:latin typeface="Calibri"/>
              </a:defRPr>
            </a:pPr>
            <a:r>
              <a:t>after cleaning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years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13432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04872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Sex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4872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M/F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95344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86783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Chest Pain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6783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4 types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77255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68695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BP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8695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mm Hg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59168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0607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Cholesterol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0607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mg/dl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41080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32520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Blood Sugar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&gt;120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22992" y="356616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14432" y="367588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ECG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14432" y="402336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3 types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489204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001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Max HR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3492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bpm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313432" y="489204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04872" y="5001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Angina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04872" y="53492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Y/N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95344" y="489204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6783" y="5001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ST Dep.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86783" y="53492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mm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77255" y="489204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68695" y="5001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ST Slope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68695" y="53492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3 types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59168" y="489204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50607" y="5001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Vessels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50607" y="53492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0–3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641080" y="4892040"/>
            <a:ext cx="1417320" cy="105156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32520" y="5001768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Thal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32520" y="5349240"/>
            <a:ext cx="1234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5A5A65"/>
                </a:solidFill>
                <a:latin typeface="Calibri"/>
              </a:defRPr>
            </a:pPr>
            <a:r>
              <a:t>3 types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217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5A5A65"/>
                </a:solidFill>
                <a:latin typeface="Calibri"/>
              </a:defRPr>
            </a:pPr>
            <a:r>
              <a:t>Source: UCI Machine Learning Repository — Cleveland Clinic Foundation, 1988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5A5A65"/>
                </a:solidFill>
                <a:latin typeface="Calibri"/>
              </a:defRPr>
            </a:pPr>
            <a:r>
              <a:t>Raw 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303 ×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0312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0312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8B8B96"/>
                </a:solidFill>
                <a:latin typeface="Calibri"/>
              </a:defRPr>
            </a:pPr>
            <a:r>
              <a:t>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impute nulls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2044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649CFF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z-score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93776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242 / 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B86C"/>
                </a:solidFill>
                <a:latin typeface="Calibri"/>
              </a:defRPr>
            </a:pPr>
            <a:r>
              <a:t>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7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77240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4ADE80"/>
                </a:solidFill>
                <a:latin typeface="Calibri"/>
              </a:defRPr>
            </a:pPr>
            <a:r>
              <a:t>Pick Best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8972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2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5EE0C5"/>
                </a:solidFill>
                <a:latin typeface="Calibri"/>
              </a:defRPr>
            </a:pPr>
            <a:r>
              <a:t>Serialise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joblib .pkl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41280" y="2331720"/>
            <a:ext cx="2743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607040" y="1828800"/>
            <a:ext cx="1051560" cy="105156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0" y="1965960"/>
            <a:ext cx="1051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6B8A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2331720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5A5A65"/>
                </a:solidFill>
                <a:latin typeface="Calibri"/>
              </a:defRPr>
            </a:pPr>
            <a:r>
              <a:t>Flask app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3474720"/>
            <a:ext cx="3520440" cy="25603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361188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649CFF"/>
                </a:solidFill>
                <a:latin typeface="Calibri"/>
              </a:defRPr>
            </a:pPr>
            <a:r>
              <a:t>Preprocessing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0120" y="3977639"/>
            <a:ext cx="91440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11480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Median imputation for missing ca/thal values.</a:t>
            </a:r>
            <a:br/>
            <a:r>
              <a:t>StandardScaler normalises all 13 features</a:t>
            </a:r>
            <a:br/>
            <a:r>
              <a:t>to zero mean, unit variance.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80559" y="3474720"/>
            <a:ext cx="3520440" cy="25603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59" y="361188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A78BFA"/>
                </a:solidFill>
                <a:latin typeface="Calibri"/>
              </a:defRPr>
            </a:pPr>
            <a:r>
              <a:t>Cross-Validation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09159" y="3977639"/>
            <a:ext cx="91440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59" y="411480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10-fold stratified CV ensures every fold</a:t>
            </a:r>
            <a:br/>
            <a:r>
              <a:t>preserves the class ratio. Reports mean</a:t>
            </a:r>
            <a:br/>
            <a:r>
              <a:t>accuracy ± standard deviation.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0" y="3474720"/>
            <a:ext cx="3520440" cy="25603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58200" y="3611880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4ADE80"/>
                </a:solidFill>
                <a:latin typeface="Calibri"/>
              </a:defRPr>
            </a:pPr>
            <a:r>
              <a:t>Model Selection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3977639"/>
            <a:ext cx="91440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4114800"/>
            <a:ext cx="3063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Random Forest wins at 85.04% CV accuracy.</a:t>
            </a:r>
            <a:br/>
            <a:r>
              <a:t>100 trees, bootstrap aggregating,</a:t>
            </a:r>
            <a:br/>
            <a:r>
              <a:t>Gini impurity splits.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5029200"/>
            <a:ext cx="2286000" cy="22860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The Model Showdown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8B8B96"/>
                </a:solidFill>
                <a:latin typeface="Calibri"/>
              </a:defRPr>
            </a:pPr>
            <a:r>
              <a:t>Seven algorithms. One winner.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2194560"/>
          <a:ext cx="905256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1645920"/>
                <a:gridCol w="914400"/>
                <a:gridCol w="301752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8181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18181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  <a:r>
                        <a:t>CV Accuracy</a:t>
                      </a:r>
                    </a:p>
                  </a:txBody>
                  <a:tcPr>
                    <a:solidFill>
                      <a:srgbClr val="18181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  <a:r>
                        <a:t>±σ</a:t>
                      </a:r>
                    </a:p>
                  </a:txBody>
                  <a:tcPr>
                    <a:solidFill>
                      <a:srgbClr val="18181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8181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🥇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85.04 %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5.96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Ensemble · Bagging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🥈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81.46 %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6.72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Ensemble · Boosting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🥉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KNN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80.58 %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7.13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Instance-based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80.15 %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8.43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79.69 %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7.01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Linear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AdaBoost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78.97 %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6.87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Ensemble · Boosting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73.95 %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7.26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Tree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1371600" y="5486400"/>
            <a:ext cx="9418320" cy="548640"/>
          </a:xfrm>
          <a:prstGeom prst="roundRect">
            <a:avLst/>
          </a:prstGeom>
          <a:solidFill>
            <a:srgbClr val="142014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5321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DE80"/>
                </a:solidFill>
                <a:latin typeface="Calibri"/>
              </a:defRPr>
            </a:pPr>
            <a:r>
              <a:t>✓  Random Forest selected — best accuracy, built-in feature importance, resistant to overfitting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286000" cy="22860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FF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Results That Matter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057400" cy="11430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649CFF"/>
                </a:solidFill>
                <a:latin typeface="Calibri"/>
              </a:defRPr>
            </a:pPr>
            <a:r>
              <a:t>81.97%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A5A65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28800"/>
            <a:ext cx="2057400" cy="11430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920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FFB86C"/>
                </a:solidFill>
                <a:latin typeface="Calibri"/>
              </a:defRPr>
            </a:pPr>
            <a:r>
              <a:t>76.19%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46888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A5A65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828800"/>
            <a:ext cx="2057400" cy="11430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920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4ADE80"/>
                </a:solidFill>
                <a:latin typeface="Calibri"/>
              </a:defRPr>
            </a:pPr>
            <a:r>
              <a:t>96.97%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46888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A5A65"/>
                </a:solidFill>
                <a:latin typeface="Calibri"/>
              </a:defRPr>
            </a:pPr>
            <a: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1828800"/>
            <a:ext cx="2057400" cy="11430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1920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A78BFA"/>
                </a:solidFill>
                <a:latin typeface="Calibri"/>
              </a:defRPr>
            </a:pPr>
            <a:r>
              <a:t>85.33%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46888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A5A65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1828800"/>
            <a:ext cx="2057400" cy="11430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19202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5EE0C5"/>
                </a:solidFill>
                <a:latin typeface="Calibri"/>
              </a:defRPr>
            </a:pPr>
            <a:r>
              <a:t>91.56%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246888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5A5A65"/>
                </a:solidFill>
                <a:latin typeface="Calibri"/>
              </a:defRPr>
            </a:pPr>
            <a:r>
              <a:t>ROC-AUC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B8B96"/>
                </a:solidFill>
                <a:latin typeface="Calibri"/>
              </a:defRPr>
            </a:pPr>
            <a:r>
              <a:t>Confusion Matrix  (61 test samples)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31520" y="3749039"/>
          <a:ext cx="50292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91640"/>
                <a:gridCol w="169164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8181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  <a:r>
                        <a:t>Pred: Healthy</a:t>
                      </a:r>
                    </a:p>
                  </a:txBody>
                  <a:tcPr>
                    <a:solidFill>
                      <a:srgbClr val="18181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B86C"/>
                          </a:solidFill>
                          <a:latin typeface="Calibri"/>
                        </a:defRPr>
                      </a:pPr>
                      <a:r>
                        <a:t>Pred: Disease</a:t>
                      </a:r>
                    </a:p>
                  </a:txBody>
                  <a:tcPr>
                    <a:solidFill>
                      <a:srgbClr val="18181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Actual: Healthy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TN  18  ✓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FP  10</a:t>
                      </a:r>
                    </a:p>
                  </a:txBody>
                  <a:tcPr>
                    <a:solidFill>
                      <a:srgbClr val="0C0C0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Actual: Disease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FN  1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8B8B96"/>
                          </a:solidFill>
                          <a:latin typeface="Calibri"/>
                        </a:defRPr>
                      </a:pPr>
                      <a:r>
                        <a:t>TP  32  ✓</a:t>
                      </a:r>
                    </a:p>
                  </a:txBody>
                  <a:tcPr>
                    <a:solidFill>
                      <a:srgbClr val="141417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6400800" y="3291840"/>
            <a:ext cx="5029200" cy="29260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B8B96"/>
                </a:solidFill>
                <a:latin typeface="Calibri"/>
              </a:defRPr>
            </a:pPr>
            <a:r>
              <a:t>The number that matters most: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84048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4ADE80"/>
                </a:solidFill>
                <a:latin typeface="Calibri"/>
              </a:defRPr>
            </a:pPr>
            <a:r>
              <a:t>96.97 % Recall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5720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t>Only 1 patient out of 33 with heart disease was missed.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02920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In medical screening, a false negative is far more dangerous than a false positive. A missed diagnosis means no treatment. A false alarm means one extra test.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What the Model Sees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B8B96"/>
                </a:solidFill>
                <a:latin typeface="Calibri"/>
              </a:defRPr>
            </a:pPr>
            <a:r>
              <a:t>Feature importance — which clinical indicators drive the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Max Heart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331720"/>
            <a:ext cx="6858000" cy="292608"/>
          </a:xfrm>
          <a:prstGeom prst="roundRect">
            <a:avLst/>
          </a:prstGeom>
          <a:solidFill>
            <a:srgbClr val="4ADE80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95560" y="22860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4ADE80"/>
                </a:solidFill>
                <a:latin typeface="Calibri"/>
              </a:defRPr>
            </a:pPr>
            <a:r>
              <a:t>14.2%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163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Chest Pain Type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2862072"/>
            <a:ext cx="6181859" cy="292608"/>
          </a:xfrm>
          <a:prstGeom prst="roundRect">
            <a:avLst/>
          </a:prstGeom>
          <a:solidFill>
            <a:srgbClr val="649CFF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19419" y="281635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649CFF"/>
                </a:solidFill>
                <a:latin typeface="Calibri"/>
              </a:defRPr>
            </a:pPr>
            <a:r>
              <a:t>12.8%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467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ST Depression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3392424"/>
            <a:ext cx="5554014" cy="292608"/>
          </a:xfrm>
          <a:prstGeom prst="roundRect">
            <a:avLst/>
          </a:prstGeom>
          <a:solidFill>
            <a:srgbClr val="A78BFA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91574" y="334670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A78BFA"/>
                </a:solidFill>
                <a:latin typeface="Calibri"/>
              </a:defRPr>
            </a:pPr>
            <a:r>
              <a:t>11.5%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770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Major Vessels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3922776"/>
            <a:ext cx="5409126" cy="292608"/>
          </a:xfrm>
          <a:prstGeom prst="roundRect">
            <a:avLst/>
          </a:prstGeom>
          <a:solidFill>
            <a:srgbClr val="5EE0C5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46686" y="3877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5EE0C5"/>
                </a:solidFill>
                <a:latin typeface="Calibri"/>
              </a:defRPr>
            </a:pPr>
            <a:r>
              <a:t>11.2%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074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8E8EB"/>
                </a:solidFill>
                <a:latin typeface="Calibri"/>
              </a:defRPr>
            </a:pPr>
            <a:r>
              <a:t>Thalassemia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4453128"/>
            <a:ext cx="5215943" cy="292608"/>
          </a:xfrm>
          <a:prstGeom prst="roundRect">
            <a:avLst/>
          </a:prstGeom>
          <a:solidFill>
            <a:srgbClr val="FFB86C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53503" y="440740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FFB86C"/>
                </a:solidFill>
                <a:latin typeface="Calibri"/>
              </a:defRPr>
            </a:pPr>
            <a:r>
              <a:t>10.8%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Age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983480"/>
            <a:ext cx="4105140" cy="292608"/>
          </a:xfrm>
          <a:prstGeom prst="roundRect">
            <a:avLst/>
          </a:prstGeom>
          <a:solidFill>
            <a:srgbClr val="2A2A30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700" y="49377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5A5A65"/>
                </a:solidFill>
                <a:latin typeface="Calibri"/>
              </a:defRPr>
            </a:pPr>
            <a:r>
              <a:t>8.5%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681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Sex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5513831"/>
            <a:ext cx="3477295" cy="292608"/>
          </a:xfrm>
          <a:prstGeom prst="roundRect">
            <a:avLst/>
          </a:prstGeom>
          <a:solidFill>
            <a:srgbClr val="2A2A30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4855" y="546811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5A5A65"/>
                </a:solidFill>
                <a:latin typeface="Calibri"/>
              </a:defRPr>
            </a:pPr>
            <a:r>
              <a:t>7.2%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99846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Cholesterol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6044183"/>
            <a:ext cx="2801154" cy="292608"/>
          </a:xfrm>
          <a:prstGeom prst="roundRect">
            <a:avLst/>
          </a:prstGeom>
          <a:solidFill>
            <a:srgbClr val="2A2A30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38714" y="599846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5A5A65"/>
                </a:solidFill>
                <a:latin typeface="Calibri"/>
              </a:defRPr>
            </a:pPr>
            <a:r>
              <a:t>5.8%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6400800"/>
            <a:ext cx="10698480" cy="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slow" advClick="1">
    <p:fade thruBlk="0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5EE0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649CFF"/>
                </a:solidFill>
                <a:latin typeface="Calibri"/>
              </a:defRPr>
            </a:pPr>
            <a:r>
              <a:t>Python 3.9+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Core language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01168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B86C"/>
                </a:solidFill>
                <a:latin typeface="Calibri"/>
              </a:defRPr>
            </a:pPr>
            <a:r>
              <a:t>Flask 3.0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60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Web framework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01168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2194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A78BFA"/>
                </a:solidFill>
                <a:latin typeface="Calibri"/>
              </a:defRPr>
            </a:pPr>
            <a:r>
              <a:t>scikit-learn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560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ML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01168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21945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5EE0C5"/>
                </a:solidFill>
                <a:latin typeface="Calibri"/>
              </a:defRPr>
            </a:pPr>
            <a:r>
              <a:t>SQLite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25603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Database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301752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4ADE80"/>
                </a:solidFill>
                <a:latin typeface="Calibri"/>
              </a:defRPr>
            </a:pPr>
            <a:r>
              <a:t>HTML / CSS / 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59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Frontend — no frameworks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23360" y="3474720"/>
            <a:ext cx="201168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8B8B96"/>
                </a:solidFill>
                <a:latin typeface="Calibri"/>
              </a:defRPr>
            </a:pPr>
            <a:r>
              <a:t>Jinja2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4023359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Template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47472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6576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6B8A"/>
                </a:solidFill>
                <a:latin typeface="Calibri"/>
              </a:defRPr>
            </a:pPr>
            <a:r>
              <a:t>matplotlib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02335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Charts &amp; plots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69680" y="3474720"/>
            <a:ext cx="256032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59" y="36576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649C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59" y="4023359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Containerisation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93776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206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4ADE80"/>
                </a:solidFill>
                <a:latin typeface="Calibri"/>
              </a:defRPr>
            </a:pPr>
            <a:r>
              <a:t>pytest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486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28 test cases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493776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0" y="51206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B86C"/>
                </a:solidFill>
                <a:latin typeface="Calibri"/>
              </a:defRPr>
            </a:pPr>
            <a:r>
              <a:t>Gunicorn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486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Production WSGI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52160" y="4937760"/>
            <a:ext cx="228600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35040" y="51206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8B8B96"/>
                </a:solidFill>
                <a:latin typeface="Calibri"/>
              </a:defRPr>
            </a:pPr>
            <a:r>
              <a:t>Git + GitHub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54864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Version control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937760"/>
            <a:ext cx="3017520" cy="11887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59" y="5120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A78BFA"/>
                </a:solidFill>
                <a:latin typeface="Calibri"/>
              </a:defRPr>
            </a:pPr>
            <a:r>
              <a:t>pandas + numpy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59" y="548640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Data wrangling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64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2377440" cy="16459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649CFF"/>
                </a:solidFill>
                <a:latin typeface="Calibri"/>
              </a:defRPr>
            </a:pPr>
            <a:r>
              <a:t>Browser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788920"/>
            <a:ext cx="21031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8B96"/>
                </a:solidFill>
                <a:latin typeface="Calibri"/>
              </a:defRPr>
            </a:pPr>
            <a:r>
              <a:t>HTML / CSS / JS</a:t>
            </a:r>
            <a:br/>
            <a:r>
              <a:t>localStorage prefs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2286000"/>
            <a:ext cx="2377440" cy="16459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4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A78BFA"/>
                </a:solidFill>
                <a:latin typeface="Calibri"/>
              </a:defRPr>
            </a:pPr>
            <a:r>
              <a:t>Flask 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40" y="2788920"/>
            <a:ext cx="21031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2880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8B96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2286000"/>
            <a:ext cx="2377440" cy="16459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2423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4ADE80"/>
                </a:solidFill>
                <a:latin typeface="Calibri"/>
              </a:defRPr>
            </a:pPr>
            <a:r>
              <a:t>ML 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788920"/>
            <a:ext cx="210312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88036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8B96"/>
                </a:solidFill>
                <a:latin typeface="Calibri"/>
              </a:defRPr>
            </a:pPr>
            <a:r>
              <a:t>StandardScaler →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2286000"/>
            <a:ext cx="2103120" cy="16459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2423160"/>
            <a:ext cx="182879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5EE0C5"/>
                </a:solidFill>
                <a:latin typeface="Calibri"/>
              </a:defRPr>
            </a:pPr>
            <a:r>
              <a:t>SQLite DB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4040" y="2788920"/>
            <a:ext cx="1828799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880360"/>
            <a:ext cx="182879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B8B96"/>
                </a:solidFill>
                <a:latin typeface="Calibri"/>
              </a:defRPr>
            </a:pPr>
            <a:r>
              <a:t>predictions table</a:t>
            </a:r>
            <a:br/>
            <a:r>
              <a:t>Timestamped records</a:t>
            </a:r>
            <a:br/>
            <a:r>
              <a:t>CRUD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5A5A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5A5A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5A5A6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572000"/>
            <a:ext cx="10698480" cy="16459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709160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B86C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User fills 13 fields  →  HTML5 validates client-side  →  POST to /predict  →  Flask validates server-side  →  NumPy array built  →  StandardScaler transforms  →  Random Forest predicts  →  Result + inputs saved to SQLite  →  Colour-coded result page rendered with risk level and probability bar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0" y="1371600"/>
            <a:ext cx="3931920" cy="3931920"/>
          </a:xfrm>
          <a:prstGeom prst="ellipse">
            <a:avLst/>
          </a:prstGeom>
          <a:solidFill>
            <a:srgbClr val="101014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0" y="1828800"/>
            <a:ext cx="3017520" cy="3017520"/>
          </a:xfrm>
          <a:prstGeom prst="ellipse">
            <a:avLst/>
          </a:prstGeom>
          <a:solidFill>
            <a:srgbClr val="141418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 i="0">
                <a:solidFill>
                  <a:srgbClr val="FAFAFA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1">
                <a:solidFill>
                  <a:srgbClr val="8B8B96"/>
                </a:solidFill>
                <a:latin typeface="Calibri"/>
              </a:defRPr>
            </a:pPr>
            <a:r>
              <a:t>Let me show you the real thing.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114800"/>
            <a:ext cx="2103120" cy="12700"/>
          </a:xfrm>
          <a:prstGeom prst="rect">
            <a:avLst/>
          </a:prstGeom>
          <a:solidFill>
            <a:srgbClr val="649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28800" y="4754880"/>
            <a:ext cx="2148840" cy="13716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8920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649CFF"/>
                </a:solidFill>
                <a:latin typeface="Calibri"/>
              </a:defRPr>
            </a:pPr>
            <a:r>
              <a:t>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2578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Overview &amp; how-it-works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4754880"/>
            <a:ext cx="2148840" cy="13716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8920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649CFF"/>
                </a:solidFill>
                <a:latin typeface="Calibri"/>
              </a:defRPr>
            </a:pPr>
            <a:r>
              <a:t>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52578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13-field form with live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754880"/>
            <a:ext cx="2148840" cy="13716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48920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649CFF"/>
                </a:solidFill>
                <a:latin typeface="Calibri"/>
              </a:defRPr>
            </a:pPr>
            <a:r>
              <a:t>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52578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Colour-coded risk + probability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4754880"/>
            <a:ext cx="2148840" cy="137160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48920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649CFF"/>
                </a:solidFill>
                <a:latin typeface="Calibri"/>
              </a:defRPr>
            </a:pPr>
            <a:r>
              <a:t>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5257800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5A5A65"/>
                </a:solidFill>
                <a:latin typeface="Calibri"/>
              </a:defRPr>
            </a:pPr>
            <a:r>
              <a:t>All past predictions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Quality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520440" cy="20116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rPr sz="1500" b="1">
                <a:solidFill>
                  <a:srgbClr val="649CFF"/>
                </a:solidFill>
                <a:latin typeface="Calibri"/>
              </a:rPr>
              <a:t>Routes  </a:t>
            </a:r>
            <a:r>
              <a:rPr sz="1100">
                <a:solidFill>
                  <a:srgbClr val="5A5A65"/>
                </a:solidFill>
                <a:latin typeface="Calibri"/>
              </a:rPr>
              <a:t>5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3063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Every page returns</a:t>
            </a:r>
            <a:br/>
            <a:r>
              <a:t>HTTP 200. Health</a:t>
            </a:r>
            <a:br/>
            <a:r>
              <a:t>API responds.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28800"/>
            <a:ext cx="3520440" cy="20116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201168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rPr sz="1500" b="1">
                <a:solidFill>
                  <a:srgbClr val="FFB86C"/>
                </a:solidFill>
                <a:latin typeface="Calibri"/>
              </a:rPr>
              <a:t>Prediction  </a:t>
            </a:r>
            <a:r>
              <a:rPr sz="1100">
                <a:solidFill>
                  <a:srgbClr val="5A5A65"/>
                </a:solidFill>
                <a:latin typeface="Calibri"/>
              </a:rPr>
              <a:t>5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423160"/>
            <a:ext cx="3063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Form + JSON API.</a:t>
            </a:r>
            <a:br/>
            <a:r>
              <a:t>Valid/invalid inputs.</a:t>
            </a:r>
            <a:br/>
            <a:r>
              <a:t>Missing fields.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520440" cy="20116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01168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rPr sz="1500" b="1">
                <a:solidFill>
                  <a:srgbClr val="A78BFA"/>
                </a:solidFill>
                <a:latin typeface="Calibri"/>
              </a:rPr>
              <a:t>Content  </a:t>
            </a:r>
            <a:r>
              <a:rPr sz="1100">
                <a:solidFill>
                  <a:srgbClr val="5A5A65"/>
                </a:solidFill>
                <a:latin typeface="Calibri"/>
              </a:rPr>
              <a:t>3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423160"/>
            <a:ext cx="3063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Footer text, medical</a:t>
            </a:r>
            <a:br/>
            <a:r>
              <a:t>disclaimer, all 13</a:t>
            </a:r>
            <a:br/>
            <a:r>
              <a:t>form fields.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3520440" cy="20116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9768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rPr sz="1500" b="1">
                <a:solidFill>
                  <a:srgbClr val="FF6B8A"/>
                </a:solidFill>
                <a:latin typeface="Calibri"/>
              </a:rPr>
              <a:t>Edge Cases  </a:t>
            </a:r>
            <a:r>
              <a:rPr sz="1100">
                <a:solidFill>
                  <a:srgbClr val="5A5A65"/>
                </a:solidFill>
                <a:latin typeface="Calibri"/>
              </a:rPr>
              <a:t>3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709160"/>
            <a:ext cx="3063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Age=100, all-zero</a:t>
            </a:r>
            <a:br/>
            <a:r>
              <a:t>input, 404 page</a:t>
            </a:r>
            <a:br/>
            <a:r>
              <a:t>handler.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59" y="4114800"/>
            <a:ext cx="3520440" cy="20116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59" y="429768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rPr sz="1500" b="1">
                <a:solidFill>
                  <a:srgbClr val="5EE0C5"/>
                </a:solidFill>
                <a:latin typeface="Calibri"/>
              </a:rPr>
              <a:t>Metadata  </a:t>
            </a:r>
            <a:r>
              <a:rPr sz="1100">
                <a:solidFill>
                  <a:srgbClr val="5A5A65"/>
                </a:solidFill>
                <a:latin typeface="Calibri"/>
              </a:rPr>
              <a:t>2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4709160"/>
            <a:ext cx="3063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model_metadata.json</a:t>
            </a:r>
            <a:br/>
            <a:r>
              <a:t>exists, has all</a:t>
            </a:r>
            <a:br/>
            <a:r>
              <a:t>required keys.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114800"/>
            <a:ext cx="3520440" cy="20116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429768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E8E8EB"/>
                </a:solidFill>
                <a:latin typeface="Calibri"/>
              </a:defRPr>
            </a:pPr>
            <a:r>
              <a:rPr sz="1500" b="1">
                <a:solidFill>
                  <a:srgbClr val="4ADE80"/>
                </a:solidFill>
                <a:latin typeface="Calibri"/>
              </a:rPr>
              <a:t>Database  </a:t>
            </a:r>
            <a:r>
              <a:rPr sz="1100">
                <a:solidFill>
                  <a:srgbClr val="5A5A65"/>
                </a:solidFill>
                <a:latin typeface="Calibri"/>
              </a:rPr>
              <a:t>2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709160"/>
            <a:ext cx="3063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8B8B96"/>
                </a:solidFill>
                <a:latin typeface="Calibri"/>
              </a:defRPr>
            </a:pPr>
            <a:r>
              <a:t>Predictions saved.</a:t>
            </a:r>
            <a:br/>
            <a:r>
              <a:t>History page shows</a:t>
            </a:r>
            <a:br/>
            <a:r>
              <a:t>stored results.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6217920"/>
            <a:ext cx="10698480" cy="411480"/>
          </a:xfrm>
          <a:prstGeom prst="roundRect">
            <a:avLst/>
          </a:prstGeom>
          <a:solidFill>
            <a:srgbClr val="0A140A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23620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DE80"/>
                </a:solidFill>
                <a:latin typeface="Calibri"/>
              </a:defRPr>
            </a:pPr>
            <a:r>
              <a:t>pytest tests/ -v  ·  28 passed  ·  0 failed  ·  2.34 s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5A5A65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548640" cy="12700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AFAFA"/>
                </a:solidFill>
                <a:latin typeface="Calibri"/>
              </a:defRPr>
            </a:pPr>
            <a:r>
              <a:t>What We Built &amp; What's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5303520" cy="43891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4ADE80"/>
                </a:solidFill>
                <a:latin typeface="Calibri"/>
              </a:defRPr>
            </a:pPr>
            <a:r>
              <a:t>Delivered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606040"/>
            <a:ext cx="182880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Random Forest — 81.97% test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Full-stack Flask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Material Design UI with dark mode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7763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SQLite prediction 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REST API for external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Docker + Gunicorn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12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28 automated tests, all passing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623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✓  100+ page project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011680"/>
            <a:ext cx="5029200" cy="438912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194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B86C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2606040"/>
            <a:ext cx="1828800" cy="12700"/>
          </a:xfrm>
          <a:prstGeom prst="rect">
            <a:avLst/>
          </a:prstGeom>
          <a:solidFill>
            <a:srgbClr val="2A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743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Multi-hospital datasets for better generalisability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Deep learning (TabNet, neural networks)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66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Microservice API architecture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97763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OAuth 2.0 multi-user authentication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PDF report export for clinicians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800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PostgreSQL for production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521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Progressive Web App for mobile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→  Continuous model retraining pipeline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0" y="457200"/>
            <a:ext cx="4572000" cy="4572000"/>
          </a:xfrm>
          <a:prstGeom prst="ellipse">
            <a:avLst/>
          </a:prstGeom>
          <a:solidFill>
            <a:srgbClr val="0E0E12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0" y="1371600"/>
            <a:ext cx="2743200" cy="2743200"/>
          </a:xfrm>
          <a:prstGeom prst="ellipse">
            <a:avLst/>
          </a:prstGeom>
          <a:solidFill>
            <a:srgbClr val="121216"/>
          </a:solidFill>
          <a:ln w="12700">
            <a:solidFill>
              <a:srgbClr val="2A2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 i="0">
                <a:solidFill>
                  <a:srgbClr val="FAFAFA"/>
                </a:solidFill>
                <a:latin typeface="Calibri"/>
              </a:defRPr>
            </a:pPr>
            <a: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127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8B8B96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E8E8EB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8B8B96"/>
                </a:solidFill>
                <a:latin typeface="Calibri"/>
              </a:defRPr>
            </a:pPr>
            <a:r>
              <a:t>MCA  ·  Sikkim Manipal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5A5A65"/>
                </a:solidFill>
                <a:latin typeface="Calibri"/>
              </a:defRPr>
            </a:pPr>
            <a:r>
              <a:t>Guide: Amit Kharb  ·  2025–26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486400"/>
            <a:ext cx="2377440" cy="4114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55046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E8E8EB"/>
                </a:solidFill>
                <a:latin typeface="Calibri"/>
              </a:defRPr>
            </a:pPr>
            <a:r>
              <a:t>📂  GitHub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486400"/>
            <a:ext cx="2377440" cy="411480"/>
          </a:xfrm>
          <a:prstGeom prst="roundRect">
            <a:avLst/>
          </a:prstGeom>
          <a:solidFill>
            <a:srgbClr val="18181B"/>
          </a:solidFill>
          <a:ln w="6350">
            <a:solidFill>
              <a:srgbClr val="2A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550468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E8E8EB"/>
                </a:solidFill>
                <a:latin typeface="Calibri"/>
              </a:defRPr>
            </a:pPr>
            <a:r>
              <a:t>🌐  Live Demo</a:t>
            </a:r>
          </a:p>
        </p:txBody>
      </p:sp>
    </p:spTree>
  </p:cSld>
  <p:clrMapOvr>
    <a:masterClrMapping/>
  </p:clrMapOvr>
  <p:transition spd="slow" advClick="1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