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400" b="0" i="0">
                <a:solidFill>
                  <a:srgbClr val="5F5F5F"/>
                </a:solidFill>
                <a:latin typeface="Calibri"/>
              </a:defRPr>
            </a:pPr>
            <a:r>
              <a:t>Sikkim Manipal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Department of Computer Applications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50876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200" b="1" i="0">
                <a:solidFill>
                  <a:srgbClr val="0D2B45"/>
                </a:solidFill>
                <a:latin typeface="Calibri"/>
              </a:defRPr>
            </a:pPr>
            <a:r>
              <a:t>CardioPredict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0" i="0">
                <a:solidFill>
                  <a:srgbClr val="5F5F5F"/>
                </a:solidFill>
                <a:latin typeface="Calibri"/>
              </a:defRPr>
            </a:pPr>
            <a:r>
              <a:t>Heart Disease Prediction System Using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0" y="3017520"/>
            <a:ext cx="2103120" cy="254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Submitted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MCA Student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347472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9A9A9A"/>
                </a:solidFill>
                <a:latin typeface="Calibri"/>
              </a:defRPr>
            </a:pPr>
            <a:r>
              <a:t>Under the Guidance 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36576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Amit Kharb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4023360"/>
            <a:ext cx="36576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100" b="0" i="0">
                <a:solidFill>
                  <a:srgbClr val="5F5F5F"/>
                </a:solidFill>
                <a:latin typeface="Calibri"/>
              </a:defRPr>
            </a:pPr>
            <a:r>
              <a:t>Project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MCA Final Year Project  •  Academic Year 2025–2026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Introduction &amp;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Methodology &amp;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Results &amp;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1887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11887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92024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65176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0" y="265176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8328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38328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11480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46320"/>
            <a:ext cx="4572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846320"/>
            <a:ext cx="457200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13232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8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CVDs are the #1 cause of death globally — 17.9 million deaths/year (WHO)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In India, CVDs account for 28% of all deaths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Conventional diagnostics (ECG, angiography) are expensive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and unavailable in most rural healthcare centres</a:t>
            </a:r>
          </a:p>
          <a:p>
            <a:pPr algn="l">
              <a:spcBef>
                <a:spcPts val="1200"/>
              </a:spcBef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ML can analyse routine clinical data to estimate heart</a:t>
            </a:r>
          </a:p>
          <a:p>
            <a:pPr algn="l">
              <a:spcBef>
                <a:spcPts val="200"/>
              </a:spcBef>
              <a:defRPr sz="1300" b="0">
                <a:solidFill>
                  <a:srgbClr val="5F5F5F"/>
                </a:solidFill>
                <a:latin typeface="Calibri"/>
              </a:defRPr>
            </a:pPr>
            <a:r>
              <a:t>   disease risk with accuracy comparable to specialists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1097280"/>
            <a:ext cx="3474720" cy="320040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1234440"/>
            <a:ext cx="31089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1600200"/>
            <a:ext cx="3108960" cy="2468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No affordable screening tool exists for primary care clinics.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Most ML models from research exist only as Jupyter notebooks — no UI, no validation.</a:t>
            </a:r>
          </a:p>
          <a:p>
            <a:pPr algn="l">
              <a:spcBef>
                <a:spcPts val="600"/>
              </a:spcBef>
              <a:defRPr sz="6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100" b="1">
                <a:solidFill>
                  <a:srgbClr val="1F4E79"/>
                </a:solidFill>
                <a:latin typeface="Calibri"/>
              </a:defRPr>
            </a:pPr>
            <a:r>
              <a:t>CardioPredict bridges this gap with a complete web application.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09728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Analyse the Cleveland Heart Disease dataset (303 records, 13 clinical features)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5564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Train and compare 7 classification algorithms using 10-fold stratified cross-validation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14015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414015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Build a responsive Flask web application for clinical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4.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72384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dual-layer input validation (client-side + server-side)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30752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730752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Store prediction history in SQLite for patient tracking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389120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389120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Containerise with Docker for one-command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47488"/>
            <a:ext cx="36576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1" i="0">
                <a:solidFill>
                  <a:srgbClr val="1F4E79"/>
                </a:solidFill>
                <a:latin typeface="Calibri"/>
              </a:defRPr>
            </a:pPr>
            <a:r>
              <a:t>7.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047488"/>
            <a:ext cx="96012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Achieve 28 automated test cases covering all critical paths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Dataset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1005840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Cleveland Heart Disease Dataset  —  UCI Machine Learning Repository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303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Records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Classes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0" y="1371600"/>
            <a:ext cx="25603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0" y="1389888"/>
            <a:ext cx="2560320" cy="34747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1" i="0">
                <a:solidFill>
                  <a:srgbClr val="1F4E79"/>
                </a:solidFill>
                <a:latin typeface="Calibri"/>
              </a:defRPr>
            </a:pPr>
            <a:r>
              <a:t>80:20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737360"/>
            <a:ext cx="25603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900" b="0" i="0">
                <a:solidFill>
                  <a:srgbClr val="5F5F5F"/>
                </a:solidFill>
                <a:latin typeface="Calibri"/>
              </a:defRPr>
            </a:pPr>
            <a:r>
              <a:t>Split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731520" y="224028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1280160"/>
                <a:gridCol w="4206240"/>
                <a:gridCol w="47548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Description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Range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Age in years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29–77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sex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Gender (0=F, 1=M)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cp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Chest pain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trestbps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blood pressure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94–200 mm Hg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chol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Serum cholesterol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126–564 mg/dl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fbs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Fasting blood sugar &gt; 120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restecg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Resting ECG results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8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thalach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Max heart rate achieved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71–202 bpm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9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exang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Exercise-induced angina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 or 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oldpeak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depression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0–6.2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11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ST segment slope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ca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Major vessels (fluoroscopy)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13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Thalassemia type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0–2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Data</a:t>
            </a:r>
            <a:br/>
            <a:r>
              <a:t>Loading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Pre-</a:t>
            </a:r>
            <a:br/>
            <a:r>
              <a:t>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Feature</a:t>
            </a:r>
            <a:br/>
            <a:r>
              <a:t>Scaling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Train/Test</a:t>
            </a:r>
            <a:br/>
            <a:r>
              <a:t>Split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097280"/>
            <a:ext cx="1234440" cy="731520"/>
          </a:xfrm>
          <a:prstGeom prst="rect">
            <a:avLst/>
          </a:prstGeom>
          <a:solidFill>
            <a:srgbClr val="1F4E7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3524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1" i="0">
                <a:solidFill>
                  <a:srgbClr val="FFFFFF"/>
                </a:solidFill>
                <a:latin typeface="Calibri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1234440"/>
            <a:ext cx="18288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097280"/>
            <a:ext cx="1234440" cy="7315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69880" y="1143000"/>
            <a:ext cx="123444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Serialise</a:t>
            </a:r>
            <a:br/>
            <a:r>
              <a:t>(.pkl)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Preprocessing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Median imputation for missing values (ca, thal)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StandardScaler normalisation (zero mean, unit variance)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80/20 split (242 / 61 samples)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random_state = 42 for reproducibility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2194560"/>
            <a:ext cx="5303520" cy="3200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Evaluation &amp; Tuning</a:t>
            </a:r>
          </a:p>
          <a:p>
            <a:pPr algn="l">
              <a:spcBef>
                <a:spcPts val="6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Stratified 10-fold cross-validation ensures each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fold has balanced class representation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Metrics: Accuracy, Precision, Recall, F1-Score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Confusion matrix + ROC-AUC curve analysis</a:t>
            </a:r>
          </a:p>
          <a:p>
            <a:pPr algn="l">
              <a:spcBef>
                <a:spcPts val="4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 Hyperparameter tuning via GridSearchCV:</a:t>
            </a:r>
          </a:p>
          <a:p>
            <a:pPr algn="l">
              <a:spcBef>
                <a:spcPts val="200"/>
              </a:spcBef>
              <a:defRPr sz="1200" b="0">
                <a:solidFill>
                  <a:srgbClr val="5F5F5F"/>
                </a:solidFill>
                <a:latin typeface="Calibri"/>
              </a:defRPr>
            </a:pPr>
            <a:r>
              <a:t>   n_estimators=100 selected systematically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Algorithm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gorith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" y="5303520"/>
            <a:ext cx="10332720" cy="41148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330952"/>
            <a:ext cx="996696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F4E79"/>
                </a:solidFill>
                <a:latin typeface="Calibri"/>
              </a:defRPr>
            </a:pPr>
            <a:r>
              <a:t>Red line = 80% baseline threshold. Random Forest (85.04%) — n_estimators=100 via GridSearchCV.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5486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Test Set Performance — Random Forest (61 samples)</a:t>
            </a:r>
          </a:p>
        </p:txBody>
      </p:sp>
      <p:pic>
        <p:nvPicPr>
          <p:cNvPr id="6" name="Picture 5" descr="test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6583680" cy="2926080"/>
          </a:xfrm>
          <a:prstGeom prst="rect">
            <a:avLst/>
          </a:prstGeom>
        </p:spPr>
      </p:pic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572000" cy="3474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663440"/>
            <a:ext cx="10698480" cy="77724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0916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300" b="1" i="0">
                <a:solidFill>
                  <a:srgbClr val="1F4E79"/>
                </a:solidFill>
                <a:latin typeface="Calibri"/>
              </a:defRPr>
            </a:pPr>
            <a:r>
              <a:t>Key Insight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37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Recall = 96.97% — Only 1 false negative out of 33 disease cases. In medical screening, a missed diagnosis is far more dangerous than a false alarm.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Feature Importance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772400" cy="38404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1005840"/>
            <a:ext cx="3383280" cy="48463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97280"/>
            <a:ext cx="31089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Clinical Reasoning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10896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4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Max Heart Rate: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Lower max HR = reduced cardiac reserve = higher risk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Chest Pain Type: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Asymptomatic (cp=3) is paradoxically the highest risk category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ST Depression: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Exercise-induced myocardial ischaemia — direct cardiac stress marker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Major Vessels (ca):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More blocked vessels = worse coronary patency</a:t>
            </a:r>
          </a:p>
          <a:p>
            <a:pPr algn="l">
              <a:spcBef>
                <a:spcPts val="300"/>
              </a:spcBef>
              <a:defRPr sz="400" b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000" b="1">
                <a:solidFill>
                  <a:srgbClr val="1F4E79"/>
                </a:solidFill>
                <a:latin typeface="Calibri"/>
              </a:defRPr>
            </a:pPr>
            <a:r>
              <a:t>Thalassemia (thal):</a:t>
            </a:r>
          </a:p>
          <a:p>
            <a:pPr algn="l">
              <a:spcBef>
                <a:spcPts val="200"/>
              </a:spcBef>
              <a:defRPr sz="900" b="0">
                <a:solidFill>
                  <a:srgbClr val="1A1A1A"/>
                </a:solidFill>
                <a:latin typeface="Calibri"/>
              </a:defRPr>
            </a:pPr>
            <a:r>
              <a:t>Blood disorder affecting oxygen transport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1097280"/>
          <a:ext cx="9418320" cy="3044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657600"/>
                <a:gridCol w="3931920"/>
              </a:tblGrid>
              <a:tr h="3383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Language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Python 3.9+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Backend, ML training, scripting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ML Libraries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scikit-learn, pandas, NumPy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 processing and model training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Web Framework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Flask 3.0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HTTP routing, template rendering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HTML5, CSS3, JavaScript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User interface (no frameworks)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SQLite 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history storage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Testing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pytest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28 automated test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Docker + Gunicorn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Production deployment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Version Control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Git + GitHub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Source code management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0584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Model-View-Controller (MVC)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Browser (Client)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HTML/CSS/JS</a:t>
            </a:r>
            <a:br/>
            <a:r>
              <a:t>User input forms</a:t>
            </a:r>
            <a:br/>
            <a:r>
              <a:t>localStorage prefs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3756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Flask (Controller)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Route handlers</a:t>
            </a:r>
            <a:br/>
            <a:r>
              <a:t>Input validation</a:t>
            </a:r>
            <a:br/>
            <a:r>
              <a:t>Template rendering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ML Model (Model)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StandardScaler</a:t>
            </a:r>
            <a:br/>
            <a:r>
              <a:t>Random Forest</a:t>
            </a:r>
            <a:br/>
            <a:r>
              <a:t>predict_proba()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1828800"/>
            <a:ext cx="7315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600" b="0" i="0">
                <a:solidFill>
                  <a:srgbClr val="1F4E79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1280160"/>
            <a:ext cx="2606040" cy="1645920"/>
          </a:xfrm>
          <a:prstGeom prst="rect">
            <a:avLst/>
          </a:prstGeom>
          <a:solidFill>
            <a:srgbClr val="D6E4F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1325880"/>
            <a:ext cx="24231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1" i="0">
                <a:solidFill>
                  <a:srgbClr val="1F4E79"/>
                </a:solidFill>
                <a:latin typeface="Calibri"/>
              </a:defRPr>
            </a:pPr>
            <a:r>
              <a:t>SQLite (Storage)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645920"/>
            <a:ext cx="2423160" cy="10972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Prediction records</a:t>
            </a:r>
            <a:br/>
            <a:r>
              <a:t>Timestamps</a:t>
            </a:r>
            <a:br/>
            <a:r>
              <a:t>CRUD operations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91840"/>
            <a:ext cx="502920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337560"/>
            <a:ext cx="47548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Request Flow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611880"/>
            <a:ext cx="475488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Browser  →  POST /predict  →  Flask validates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StandardScaler + Random Forest inference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→  SQLite saves  →  colour-coded result rendered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291840"/>
            <a:ext cx="5212080" cy="1463040"/>
          </a:xfrm>
          <a:prstGeom prst="rect">
            <a:avLst/>
          </a:prstGeom>
          <a:solidFill>
            <a:srgbClr val="E8F0FE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3337560"/>
            <a:ext cx="493776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1" i="0">
                <a:solidFill>
                  <a:srgbClr val="1F4E79"/>
                </a:solidFill>
                <a:latin typeface="Calibri"/>
              </a:defRPr>
            </a:pPr>
            <a:r>
              <a:t>Production Deployment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611880"/>
            <a:ext cx="493776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[Docker]  Container — single-command deploy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[Gunicorn]  WSGI server — 4 worker processes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[pip freeze]  All dependencies in requirements.txt</a:t>
            </a:r>
          </a:p>
          <a:p>
            <a:pPr algn="l">
              <a:spcBef>
                <a:spcPts val="300"/>
              </a:spcBef>
              <a:defRPr sz="1100" b="0">
                <a:solidFill>
                  <a:srgbClr val="1A1A1A"/>
                </a:solidFill>
                <a:latin typeface="Calibri"/>
              </a:defRPr>
            </a:pPr>
            <a:r>
              <a:t>[env]  Environment variables for configuration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Live Demo — Application Screenshots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307592"/>
            <a:ext cx="5340096" cy="204825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reenshot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5303520" cy="2011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09360" y="1307592"/>
            <a:ext cx="5340096" cy="204825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reenshot_resu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7648" y="1325880"/>
            <a:ext cx="5303520" cy="20116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050792"/>
            <a:ext cx="5340096" cy="204825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creenshot_his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69080"/>
            <a:ext cx="5303520" cy="20116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4050792"/>
            <a:ext cx="5340096" cy="2048256"/>
          </a:xfrm>
          <a:prstGeom prst="rect">
            <a:avLst/>
          </a:prstGeom>
          <a:solidFill>
            <a:srgbClr val="DDDDDD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reensho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7648" y="4069080"/>
            <a:ext cx="5303520" cy="2011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105156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Home Page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7648" y="105156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Result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9476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Prediction History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3794760"/>
            <a:ext cx="53035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1" i="0">
                <a:solidFill>
                  <a:srgbClr val="1F4E79"/>
                </a:solidFill>
                <a:latin typeface="Calibri"/>
              </a:defRPr>
            </a:pPr>
            <a:r>
              <a:t>Dark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Testing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457200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1">
                <a:solidFill>
                  <a:srgbClr val="5F5F5F"/>
                </a:solidFill>
                <a:latin typeface="Calibri"/>
              </a:defRPr>
            </a:pPr>
            <a:r>
              <a:t>28 automated test cases using pytest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34440"/>
          <a:ext cx="10698480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48640"/>
                <a:gridCol w="804672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Category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Tests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What Is Verified</a:t>
                      </a:r>
                    </a:p>
                  </a:txBody>
                  <a:tcPr marT="25400" marB="25400" marL="50800" marR="50800">
                    <a:solidFill>
                      <a:srgbClr val="1F4E7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Route Connectivity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All pages return HTTP 200, health API responds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 Logic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Form submission, JSON API, missing field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Content Validation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Footer text, medical disclaimer, all 13 form fields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Edge Cases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Extreme age (100), all-zero input, 404 handling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Model Metadata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metadata.json exists, contains all required keys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Predictions saved correctly, history page works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Security  *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Input bounds, type validation, SQL injection prevention</a:t>
                      </a:r>
                    </a:p>
                  </a:txBody>
                  <a:tcPr marT="25400" marB="25400" marL="50800" marR="508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Accessibility  *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1A"/>
                          </a:solidFill>
                          <a:latin typeface="Calibri"/>
                        </a:defRPr>
                      </a:pPr>
                      <a:r>
                        <a:t>Dark mode toggle, responsive layout, screen reader tags</a:t>
                      </a:r>
                    </a:p>
                  </a:txBody>
                  <a:tcPr marT="25400" marB="25400" marL="50800" marR="50800">
                    <a:solidFill>
                      <a:srgbClr val="D6E4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4160520"/>
            <a:ext cx="10698480" cy="365760"/>
          </a:xfrm>
          <a:prstGeom prst="rect">
            <a:avLst/>
          </a:prstGeom>
          <a:solidFill>
            <a:srgbClr val="FDF2E0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2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000" b="0" i="0">
                <a:solidFill>
                  <a:srgbClr val="BF6E00"/>
                </a:solidFill>
                <a:latin typeface="Calibri"/>
              </a:defRPr>
            </a:pPr>
            <a:r>
              <a:t>*  Security &amp; Accessibility tests highlight production-grade polish — SQL injection prevention, ARIA tags, Dark Mode.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663440"/>
            <a:ext cx="10698480" cy="365760"/>
          </a:xfrm>
          <a:prstGeom prst="rect">
            <a:avLst/>
          </a:prstGeom>
          <a:solidFill>
            <a:srgbClr val="E8F5E9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90872"/>
            <a:ext cx="1069848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1" i="0">
                <a:solidFill>
                  <a:srgbClr val="27AE60"/>
                </a:solidFill>
                <a:latin typeface="Calibri"/>
              </a:defRPr>
            </a:pPr>
            <a:r>
              <a:t>Result:  28 passed  •  0 failed  •  2.34 seconds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731520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2600" b="1" i="0">
                <a:solidFill>
                  <a:srgbClr val="0D2B45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822960"/>
            <a:ext cx="137160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What Was Achieved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Random Forest — 81.97% accuracy, 96.97% recall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Full-stack Flask web application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Dark mode UI with accessibility features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SQLite prediction history with CRUD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REST API endpoint for programmatic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Docker + Gunicorn production deployment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28 automated tests — all passing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100+ page comprehensive project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097280"/>
            <a:ext cx="5303520" cy="457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</a:p>
          <a:p>
            <a:pPr algn="l">
              <a:spcBef>
                <a:spcPts val="200"/>
              </a:spcBef>
              <a:defRPr sz="1400" b="1">
                <a:solidFill>
                  <a:srgbClr val="1F4E79"/>
                </a:solidFill>
                <a:latin typeface="Calibri"/>
              </a:defRPr>
            </a:pPr>
            <a:r>
              <a:t>Future Scope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Larger, multi-hospital training datasets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Deep learning models (TabNet, neural networks)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Microservice-based API architecture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User authentication with OAuth 2.0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PDF report generation for clinicians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PostgreSQL for production-scale database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Progressive Web App for mobile access</a:t>
            </a:r>
          </a:p>
          <a:p>
            <a:pPr algn="l">
              <a:spcBef>
                <a:spcPts val="500"/>
              </a:spcBef>
              <a:defRPr sz="1200" b="0">
                <a:solidFill>
                  <a:srgbClr val="1A1A1A"/>
                </a:solidFill>
                <a:latin typeface="Calibri"/>
              </a:defRPr>
            </a:pPr>
            <a:r>
              <a:t>  Continuous model retraining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69848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defRPr sz="800" b="0" i="0">
                <a:solidFill>
                  <a:srgbClr val="9A9A9A"/>
                </a:solidFill>
                <a:latin typeface="Calibri"/>
              </a:defRPr>
            </a:pPr>
            <a:r>
              <a:t>CardioPredict  |  Sandeep Kumar  |  MCA  |  Sikkim Manipal University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4400" b="1" i="0">
                <a:solidFill>
                  <a:srgbClr val="0D2B45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2468880"/>
            <a:ext cx="2103120" cy="254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2000" b="0" i="0">
                <a:solidFill>
                  <a:srgbClr val="5F5F5F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Sandeep Kumar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31920"/>
            <a:ext cx="10332720" cy="2743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300" b="0" i="0">
                <a:solidFill>
                  <a:srgbClr val="5F5F5F"/>
                </a:solidFill>
                <a:latin typeface="Calibri"/>
              </a:defRPr>
            </a:pPr>
            <a:r>
              <a:t>Master of Computer Applications  |  Sikkim Manipal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9A9A9A"/>
                </a:solidFill>
                <a:latin typeface="Calibri"/>
              </a:defRPr>
            </a:pPr>
            <a:r>
              <a:t>Guide: Amit Kharb  |  Academic Year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937760"/>
            <a:ext cx="10332720" cy="228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 sz="1200" b="0" i="0">
                <a:solidFill>
                  <a:srgbClr val="1F4E79"/>
                </a:solidFill>
                <a:latin typeface="Calibri"/>
              </a:defRPr>
            </a:pPr>
            <a:r>
              <a:t>https://github.com/sandeeep-kr/HeartDiseaseProject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