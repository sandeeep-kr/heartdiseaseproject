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327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400" b="0" i="0">
                <a:solidFill>
                  <a:srgbClr val="5F5F5F"/>
                </a:solidFill>
                <a:latin typeface="Calibri"/>
              </a:defRPr>
            </a:pPr>
            <a:r>
              <a:t>Sikkim Manipal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32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0" i="0">
                <a:solidFill>
                  <a:srgbClr val="9A9A9A"/>
                </a:solidFill>
                <a:latin typeface="Calibri"/>
              </a:defRPr>
            </a:pPr>
            <a:r>
              <a:t>Department of Computer Applications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508760"/>
            <a:ext cx="210312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33272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4200" b="1" i="0">
                <a:solidFill>
                  <a:srgbClr val="0D2B45"/>
                </a:solidFill>
                <a:latin typeface="Calibri"/>
              </a:defRPr>
            </a:pPr>
            <a:r>
              <a:t>CardioPredict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103327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800" b="0" i="0">
                <a:solidFill>
                  <a:srgbClr val="5F5F5F"/>
                </a:solidFill>
                <a:latin typeface="Calibri"/>
              </a:defRPr>
            </a:pPr>
            <a:r>
              <a:t>Heart Disease Prediction System Using Machine Learning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017520"/>
            <a:ext cx="2103120" cy="254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3474720"/>
            <a:ext cx="3657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100" b="0" i="0">
                <a:solidFill>
                  <a:srgbClr val="9A9A9A"/>
                </a:solidFill>
                <a:latin typeface="Calibri"/>
              </a:defRPr>
            </a:pPr>
            <a:r>
              <a:t>Submitted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703320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Sandeep Kumar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4023360"/>
            <a:ext cx="3657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100" b="0" i="0">
                <a:solidFill>
                  <a:srgbClr val="5F5F5F"/>
                </a:solidFill>
                <a:latin typeface="Calibri"/>
              </a:defRPr>
            </a:pPr>
            <a:r>
              <a:t>MCA Student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474720"/>
            <a:ext cx="3657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100" b="0" i="0">
                <a:solidFill>
                  <a:srgbClr val="9A9A9A"/>
                </a:solidFill>
                <a:latin typeface="Calibri"/>
              </a:defRPr>
            </a:pPr>
            <a:r>
              <a:t>Under the Guidance 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Amit Kharb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023360"/>
            <a:ext cx="3657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100" b="0" i="0">
                <a:solidFill>
                  <a:srgbClr val="5F5F5F"/>
                </a:solidFill>
                <a:latin typeface="Calibri"/>
              </a:defRPr>
            </a:pPr>
            <a:r>
              <a:t>Project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46320"/>
            <a:ext cx="10332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0" i="0">
                <a:solidFill>
                  <a:srgbClr val="9A9A9A"/>
                </a:solidFill>
                <a:latin typeface="Calibri"/>
              </a:defRPr>
            </a:pPr>
            <a:r>
              <a:t>MCA Final Year Project  •  Academic Year 2025–2026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18872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Introduction &amp; Problem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92024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5176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8328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Methodology &amp;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1480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11480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Algorithm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4632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Results &amp;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18872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18872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Feature Importance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2024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92024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5176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65176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38328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38328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11480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11480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4632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84632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13232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CVDs are the #1 cause of death globally — 17.9 million deaths/year (WHO)</a:t>
            </a:r>
          </a:p>
          <a:p>
            <a:pPr algn="l">
              <a:spcBef>
                <a:spcPts val="12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In India, CVDs account for 28% of all deaths</a:t>
            </a:r>
          </a:p>
          <a:p>
            <a:pPr algn="l">
              <a:spcBef>
                <a:spcPts val="12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Conventional diagnostics (ECG, angiography) are expensive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5F5F5F"/>
                </a:solidFill>
                <a:latin typeface="Calibri"/>
              </a:defRPr>
            </a:pPr>
            <a:r>
              <a:t>   and unavailable in most rural healthcare centres</a:t>
            </a:r>
          </a:p>
          <a:p>
            <a:pPr algn="l">
              <a:spcBef>
                <a:spcPts val="12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ML can analyse routine clinical data to estimate heart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5F5F5F"/>
                </a:solidFill>
                <a:latin typeface="Calibri"/>
              </a:defRPr>
            </a:pPr>
            <a:r>
              <a:t>   disease risk with accuracy comparable to specialists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097280"/>
            <a:ext cx="3474720" cy="320040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34440"/>
            <a:ext cx="31089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00200"/>
            <a:ext cx="3108960" cy="2468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No affordable screening tool exists for primary care clinics.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Most ML models from research exist only as Jupyter notebooks — no UI, no validation.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100" b="1">
                <a:solidFill>
                  <a:srgbClr val="1F4E79"/>
                </a:solidFill>
                <a:latin typeface="Calibri"/>
              </a:defRPr>
            </a:pPr>
            <a:r>
              <a:t>CardioPredict bridges this gap with a complete web application.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097280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Analyse the Cleveland Heart Disease dataset (303 records, 13 clinical features)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755648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Train and compare 7 classification algorithms using 10-fold stratified cross-validation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14015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14015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Build a responsive Flask web application for clinical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72384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072384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Implement dual-layer input validation (client-side + server-side)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30752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730752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Store prediction history in SQLite for patient tracking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89120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89120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Containerise with Docker for one-command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47488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7.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047488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Achieve 28 automated test cases covering all critical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058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1">
                <a:solidFill>
                  <a:srgbClr val="5F5F5F"/>
                </a:solidFill>
                <a:latin typeface="Calibri"/>
              </a:defRPr>
            </a:pPr>
            <a:r>
              <a:t>Cleveland Heart Disease Dataset  —  UCI Machine Learning Repository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25603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25603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1" i="0">
                <a:solidFill>
                  <a:srgbClr val="1F4E79"/>
                </a:solidFill>
                <a:latin typeface="Calibri"/>
              </a:defRPr>
            </a:pPr>
            <a:r>
              <a:t>303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560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0" i="0">
                <a:solidFill>
                  <a:srgbClr val="5F5F5F"/>
                </a:solidFill>
                <a:latin typeface="Calibri"/>
              </a:defRPr>
            </a:pPr>
            <a:r>
              <a:t>Records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371600"/>
            <a:ext cx="25603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389888"/>
            <a:ext cx="25603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1" i="0">
                <a:solidFill>
                  <a:srgbClr val="1F4E79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560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0" i="0">
                <a:solidFill>
                  <a:srgbClr val="5F5F5F"/>
                </a:solidFill>
                <a:latin typeface="Calibri"/>
              </a:defRPr>
            </a:pPr>
            <a:r>
              <a:t>Features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25603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389888"/>
            <a:ext cx="25603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1" i="0">
                <a:solidFill>
                  <a:srgbClr val="1F4E79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737360"/>
            <a:ext cx="2560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0" i="0">
                <a:solidFill>
                  <a:srgbClr val="5F5F5F"/>
                </a:solidFill>
                <a:latin typeface="Calibri"/>
              </a:defRPr>
            </a:pPr>
            <a:r>
              <a:t>Classes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1371600"/>
            <a:ext cx="25603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1389888"/>
            <a:ext cx="25603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1" i="0">
                <a:solidFill>
                  <a:srgbClr val="1F4E79"/>
                </a:solidFill>
                <a:latin typeface="Calibri"/>
              </a:defRPr>
            </a:pPr>
            <a:r>
              <a:t>80:20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1737360"/>
            <a:ext cx="2560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0" i="0">
                <a:solidFill>
                  <a:srgbClr val="5F5F5F"/>
                </a:solidFill>
                <a:latin typeface="Calibri"/>
              </a:defRPr>
            </a:pPr>
            <a:r>
              <a:t>Split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31520" y="2240280"/>
          <a:ext cx="106984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280160"/>
                <a:gridCol w="4206240"/>
                <a:gridCol w="4754880"/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Range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age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Age in years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29–77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sex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Gender (0=F, 1=M)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 or 1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cp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Chest pain type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trestbps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Resting blood pressure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94–200 mm Hg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chol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Serum cholesterol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126–564 mg/dl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fbs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Fasting blood sugar &gt; 120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 or 1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restecg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Resting ECG results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thalach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Max heart rate achieved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71–202 bpm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exang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Exercise-induced angina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 or 1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oldpeak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 depression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0–6.2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slope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 segment slope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ca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Major vessels (fluoroscopy)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0–3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thal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Thalassemia type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Data</a:t>
            </a:r>
            <a:br/>
            <a:r>
              <a:t>Loading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EDA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Pre-</a:t>
            </a:r>
            <a:br/>
            <a:r>
              <a:t>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0060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Feature</a:t>
            </a:r>
            <a:br/>
            <a:r>
              <a:t>Scaling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Train/Test</a:t>
            </a:r>
            <a:br/>
            <a:r>
              <a:t>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1097280"/>
            <a:ext cx="1234440" cy="731520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3524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Model</a:t>
            </a:r>
            <a:br/>
            <a:r>
              <a:t>Training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Evaluation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6988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6988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Serialise</a:t>
            </a:r>
            <a:br/>
            <a:r>
              <a:t>(.pkl)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194560"/>
            <a:ext cx="5303520" cy="3200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defRPr sz="1400" b="1">
                <a:solidFill>
                  <a:srgbClr val="1F4E79"/>
                </a:solidFill>
                <a:latin typeface="Calibri"/>
              </a:defRPr>
            </a:pPr>
            <a:r>
              <a:t>Preprocessing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Median imputation for missing values (ca, thal)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StandardScaler normalisation (zero mean, unit variance)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Stratified 80/20 split (242 / 61 samples)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random_state = 42 for reproducibility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194560"/>
            <a:ext cx="5303520" cy="3200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defRPr sz="1400" b="1">
                <a:solidFill>
                  <a:srgbClr val="1F4E79"/>
                </a:solidFill>
                <a:latin typeface="Calibri"/>
              </a:defRPr>
            </a:pPr>
            <a:r>
              <a:t>Evaluation &amp; Tuning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Stratified 10-fold cross-validation ensures each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5F5F5F"/>
                </a:solidFill>
                <a:latin typeface="Calibri"/>
              </a:defRPr>
            </a:pPr>
            <a:r>
              <a:t>   fold has balanced class representation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Metrics: Accuracy, Precision, Recall, F1-Score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Confusion matrix + ROC-AUC curve analysis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Hyperparameter tuning via GridSearchCV: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5F5F5F"/>
                </a:solidFill>
                <a:latin typeface="Calibri"/>
              </a:defRPr>
            </a:pPr>
            <a:r>
              <a:t>   n_estimators=100 selected systematically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Algorithm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lgorith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47120" cy="4206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14400" y="5303520"/>
            <a:ext cx="10332720" cy="41148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330952"/>
            <a:ext cx="99669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0" i="0">
                <a:solidFill>
                  <a:srgbClr val="1F4E79"/>
                </a:solidFill>
                <a:latin typeface="Calibri"/>
              </a:defRPr>
            </a:pPr>
            <a:r>
              <a:t>Red line = 80% baseline threshold. Random Forest (85.04%) — n_estimators=100 via GridSearchCV.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5486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1">
                <a:solidFill>
                  <a:srgbClr val="5F5F5F"/>
                </a:solidFill>
                <a:latin typeface="Calibri"/>
              </a:defRPr>
            </a:pPr>
            <a:r>
              <a:t>Test Set Performance — Random Forest (61 samples)</a:t>
            </a:r>
          </a:p>
        </p:txBody>
      </p:sp>
      <p:pic>
        <p:nvPicPr>
          <p:cNvPr id="6" name="Picture 5" descr="test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583680" cy="2926080"/>
          </a:xfrm>
          <a:prstGeom prst="rect">
            <a:avLst/>
          </a:prstGeom>
        </p:spPr>
      </p:pic>
      <p:pic>
        <p:nvPicPr>
          <p:cNvPr id="7" name="Picture 6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914400"/>
            <a:ext cx="4572000" cy="34747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4663440"/>
            <a:ext cx="10698480" cy="77724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09160"/>
            <a:ext cx="4572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300" b="1" i="0">
                <a:solidFill>
                  <a:srgbClr val="1F4E79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37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Recall = 96.97% — Only 1 false negative out of 33 disease cases. In medical screening, a missed diagnosis is far more dangerous than a false alarm.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Feature Importance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38404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005840"/>
            <a:ext cx="3383280" cy="48463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97280"/>
            <a:ext cx="31089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Clinical Reasoning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371600"/>
            <a:ext cx="310896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Max Heart Rate: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Lower max HR = reduced cardiac reserve = higher risk</a:t>
            </a:r>
          </a:p>
          <a:p>
            <a:pPr algn="l">
              <a:spcBef>
                <a:spcPts val="300"/>
              </a:spcBef>
              <a:defRPr sz="4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Chest Pain Type: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Asymptomatic (cp=3) is paradoxically the highest risk category</a:t>
            </a:r>
          </a:p>
          <a:p>
            <a:pPr algn="l">
              <a:spcBef>
                <a:spcPts val="300"/>
              </a:spcBef>
              <a:defRPr sz="4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ST Depression: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Exercise-induced myocardial ischaemia — direct cardiac stress marker</a:t>
            </a:r>
          </a:p>
          <a:p>
            <a:pPr algn="l">
              <a:spcBef>
                <a:spcPts val="300"/>
              </a:spcBef>
              <a:defRPr sz="4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Major Vessels (ca):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More blocked vessels = worse coronary patency</a:t>
            </a:r>
          </a:p>
          <a:p>
            <a:pPr algn="l">
              <a:spcBef>
                <a:spcPts val="300"/>
              </a:spcBef>
              <a:defRPr sz="4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Thalassemia (thal):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Blood disorder affecting oxygen transport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097280"/>
          <a:ext cx="9418320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3931920"/>
              </a:tblGrid>
              <a:tr h="33832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Language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Python 3.9+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Backend, ML training, scripting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ML Libraries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scikit-learn, pandas, NumPy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Data processing and model training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Web Framework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Flask 3.0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HTTP routing, template rendering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Frontend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HTML5, CSS3, JavaScript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User interface (no frameworks)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Database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SQLite 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Prediction history storage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Testing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pytest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28 automated test cases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Containerisation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Docker + Gunicorn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Production deployment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Version Control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Git + GitHub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Source code management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1">
                <a:solidFill>
                  <a:srgbClr val="5F5F5F"/>
                </a:solidFill>
                <a:latin typeface="Calibri"/>
              </a:defRPr>
            </a:pPr>
            <a:r>
              <a:t>Model-View-Controller (MVC)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260604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25880"/>
            <a:ext cx="24231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1" i="0">
                <a:solidFill>
                  <a:srgbClr val="1F4E79"/>
                </a:solidFill>
                <a:latin typeface="Calibri"/>
              </a:defRPr>
            </a:pPr>
            <a:r>
              <a:t>Browser (Client)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4231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HTML/CSS/JS</a:t>
            </a:r>
            <a:br/>
            <a:r>
              <a:t>User input forms</a:t>
            </a:r>
            <a:br/>
            <a:r>
              <a:t>localStorage prefs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828800"/>
            <a:ext cx="731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280160"/>
            <a:ext cx="260604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1325880"/>
            <a:ext cx="24231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1" i="0">
                <a:solidFill>
                  <a:srgbClr val="1F4E79"/>
                </a:solidFill>
                <a:latin typeface="Calibri"/>
              </a:defRPr>
            </a:pPr>
            <a:r>
              <a:t>Flask (Controller)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645920"/>
            <a:ext cx="24231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Route handlers</a:t>
            </a:r>
            <a:br/>
            <a:r>
              <a:t>Input validation</a:t>
            </a:r>
            <a:br/>
            <a:r>
              <a:t>Template rendering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828800"/>
            <a:ext cx="731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1280160"/>
            <a:ext cx="260604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1325880"/>
            <a:ext cx="24231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1" i="0">
                <a:solidFill>
                  <a:srgbClr val="1F4E79"/>
                </a:solidFill>
                <a:latin typeface="Calibri"/>
              </a:defRPr>
            </a:pPr>
            <a:r>
              <a:t>ML Model (Model)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1645920"/>
            <a:ext cx="24231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StandardScaler</a:t>
            </a:r>
            <a:br/>
            <a:r>
              <a:t>Random Forest</a:t>
            </a:r>
            <a:br/>
            <a:r>
              <a:t>predict_proba()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1828800"/>
            <a:ext cx="731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09760" y="1280160"/>
            <a:ext cx="260604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0" y="1325880"/>
            <a:ext cx="24231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1" i="0">
                <a:solidFill>
                  <a:srgbClr val="1F4E79"/>
                </a:solidFill>
                <a:latin typeface="Calibri"/>
              </a:defRPr>
            </a:pPr>
            <a:r>
              <a:t>SQLite (Storage)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1645920"/>
            <a:ext cx="24231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Prediction records</a:t>
            </a:r>
            <a:br/>
            <a:r>
              <a:t>Timestamps</a:t>
            </a:r>
            <a:br/>
            <a:r>
              <a:t>CRUD operations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291840"/>
            <a:ext cx="50292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337560"/>
            <a:ext cx="4754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Request 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611880"/>
            <a:ext cx="475488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Browser  →  POST /predict  →  Flask validates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→  StandardScaler + Random Forest inference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→  SQLite saves  →  colour-coded result rendered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291840"/>
            <a:ext cx="5212080" cy="1463040"/>
          </a:xfrm>
          <a:prstGeom prst="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337560"/>
            <a:ext cx="49377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Production 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611880"/>
            <a:ext cx="49377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[Docker]  Container — single-command deploy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[Gunicorn]  WSGI server — 4 worker processes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[pip freeze]  All dependencies in requirements.txt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[env]  Environment variables for configuration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Live Demo — Application Screenshots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78408"/>
            <a:ext cx="53035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900" b="1" i="0">
                <a:solidFill>
                  <a:srgbClr val="1F4E79"/>
                </a:solidFill>
                <a:latin typeface="Calibri"/>
              </a:defRPr>
            </a:pPr>
            <a:r>
              <a:t>Home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5358384" cy="2157984"/>
          </a:xfrm>
          <a:prstGeom prst="rect">
            <a:avLst/>
          </a:prstGeom>
          <a:solidFill>
            <a:srgbClr val="CCCCCC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53035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0" y="978408"/>
            <a:ext cx="53035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900" b="1" i="0">
                <a:solidFill>
                  <a:srgbClr val="1F4E79"/>
                </a:solidFill>
                <a:latin typeface="Calibri"/>
              </a:defRPr>
            </a:pPr>
            <a:r>
              <a:t>Prediction Result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9048" y="1115568"/>
            <a:ext cx="5358384" cy="2157984"/>
          </a:xfrm>
          <a:prstGeom prst="rect">
            <a:avLst/>
          </a:prstGeom>
          <a:solidFill>
            <a:srgbClr val="CCCCCC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reenshot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43000"/>
            <a:ext cx="5303520" cy="2103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3447288"/>
            <a:ext cx="53035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900" b="1" i="0">
                <a:solidFill>
                  <a:srgbClr val="1F4E79"/>
                </a:solidFill>
                <a:latin typeface="Calibri"/>
              </a:defRPr>
            </a:pPr>
            <a:r>
              <a:t>Prediction History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" y="3584448"/>
            <a:ext cx="5358384" cy="2157984"/>
          </a:xfrm>
          <a:prstGeom prst="rect">
            <a:avLst/>
          </a:prstGeom>
          <a:solidFill>
            <a:srgbClr val="CCCCCC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creenshot_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611880"/>
            <a:ext cx="5303520" cy="21031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6480" y="3447288"/>
            <a:ext cx="53035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900" b="1" i="0">
                <a:solidFill>
                  <a:srgbClr val="1F4E79"/>
                </a:solidFill>
                <a:latin typeface="Calibri"/>
              </a:defRPr>
            </a:pPr>
            <a:r>
              <a:t>Dark Mode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9048" y="3584448"/>
            <a:ext cx="5358384" cy="2157984"/>
          </a:xfrm>
          <a:prstGeom prst="rect">
            <a:avLst/>
          </a:prstGeom>
          <a:solidFill>
            <a:srgbClr val="CCCCCC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reenshot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611880"/>
            <a:ext cx="5303520" cy="21031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4572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1">
                <a:solidFill>
                  <a:srgbClr val="5F5F5F"/>
                </a:solidFill>
                <a:latin typeface="Calibri"/>
              </a:defRPr>
            </a:pPr>
            <a:r>
              <a:t>28 automated test cases using pytest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234440"/>
          <a:ext cx="10698480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48640"/>
                <a:gridCol w="8046720"/>
              </a:tblGrid>
              <a:tr h="30175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Tests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Is Verified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Route Connectivity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All pages return HTTP 200, health API responds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Prediction Logic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Form submission, JSON API, missing field handling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Content Validation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Footer text, medical disclaimer, all 13 form fields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Edge Cases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Extreme age (100), all-zero input, 404 handling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Model Metadata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metadata.json exists, contains all required keys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Database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Predictions saved correctly, history page works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Security  *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Input bounds, type validation, SQL injection prevention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Accessibility  *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Dark mode toggle, responsive layout, screen reader tags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4160520"/>
            <a:ext cx="10698480" cy="365760"/>
          </a:xfrm>
          <a:prstGeom prst="rect">
            <a:avLst/>
          </a:prstGeom>
          <a:solidFill>
            <a:srgbClr val="FDF2E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87952"/>
            <a:ext cx="103327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BF6E00"/>
                </a:solidFill>
                <a:latin typeface="Calibri"/>
              </a:defRPr>
            </a:pPr>
            <a:r>
              <a:t>*  Security &amp; Accessibility tests highlight production-grade polish — SQL injection prevention, ARIA tags, Dark Mode.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663440"/>
            <a:ext cx="10698480" cy="365760"/>
          </a:xfrm>
          <a:prstGeom prst="rect">
            <a:avLst/>
          </a:prstGeom>
          <a:solidFill>
            <a:srgbClr val="E8F5E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690872"/>
            <a:ext cx="106984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1" i="0">
                <a:solidFill>
                  <a:srgbClr val="27AE60"/>
                </a:solidFill>
                <a:latin typeface="Calibri"/>
              </a:defRPr>
            </a:pPr>
            <a:r>
              <a:t>Result:  28 passed  •  0 failed  •  2.34 seconds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530352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defRPr sz="1400" b="1">
                <a:solidFill>
                  <a:srgbClr val="1F4E79"/>
                </a:solidFill>
                <a:latin typeface="Calibri"/>
              </a:defRPr>
            </a:pPr>
            <a:r>
              <a:t>What Was Achieved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Random Forest — 81.97% accuracy, 96.97% recall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Full-stack Flask web application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Dark mode UI with accessibility features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SQLite prediction history with CRUD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REST API endpoint for programmatic access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Docker + Gunicorn production deployment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28 automated tests — all passing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100+ page comprehensive project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0"/>
            <a:ext cx="530352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defRPr sz="1400" b="1">
                <a:solidFill>
                  <a:srgbClr val="1F4E79"/>
                </a:solidFill>
                <a:latin typeface="Calibri"/>
              </a:defRPr>
            </a:pPr>
            <a:r>
              <a:t>Future Scope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Larger, multi-hospital training datasets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Deep learning models (TabNet, neural networks)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Microservice-based API architecture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User authentication with OAuth 2.0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PDF report generation for clinicians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PostgreSQL for production-scale database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Progressive Web App for mobile access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Continuous model retraining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4400" b="1" i="0">
                <a:solidFill>
                  <a:srgbClr val="0D2B45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468880"/>
            <a:ext cx="210312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0" i="0">
                <a:solidFill>
                  <a:srgbClr val="5F5F5F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800" b="1" i="0">
                <a:solidFill>
                  <a:srgbClr val="1A1A1A"/>
                </a:solidFill>
                <a:latin typeface="Calibri"/>
              </a:defRPr>
            </a:pPr>
            <a:r>
              <a:t>Sandeep Kumar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31920"/>
            <a:ext cx="10332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5F5F5F"/>
                </a:solidFill>
                <a:latin typeface="Calibri"/>
              </a:defRPr>
            </a:pPr>
            <a:r>
              <a:t>Master of Computer Applications  |  Sikkim Manipal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51960"/>
            <a:ext cx="103327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0" i="0">
                <a:solidFill>
                  <a:srgbClr val="9A9A9A"/>
                </a:solidFill>
                <a:latin typeface="Calibri"/>
              </a:defRPr>
            </a:pPr>
            <a:r>
              <a:t>Guide: Amit Kharb  |  Academic Year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37760"/>
            <a:ext cx="103327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0" i="0">
                <a:solidFill>
                  <a:srgbClr val="1F4E79"/>
                </a:solidFill>
                <a:latin typeface="Calibri"/>
              </a:defRPr>
            </a:pPr>
            <a:r>
              <a:t>https://github.com/sandeeep-kr/HeartDiseaseProject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