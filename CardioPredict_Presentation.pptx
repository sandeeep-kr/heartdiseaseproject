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5F5F5F"/>
                </a:solidFill>
                <a:latin typeface="Calibri"/>
              </a:defRPr>
            </a:pPr>
            <a:r>
              <a:t>Sikkim Manipal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686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A9A9A"/>
                </a:solidFill>
                <a:latin typeface="Calibri"/>
              </a:defRPr>
            </a:pPr>
            <a:r>
              <a:t>Department of Computer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1463040"/>
            <a:ext cx="210312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0D2B45"/>
                </a:solidFill>
                <a:latin typeface="Calibri"/>
              </a:defRPr>
            </a:pPr>
            <a:r>
              <a:t>CardioPredict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5F5F5F"/>
                </a:solidFill>
                <a:latin typeface="Calibri"/>
              </a:defRPr>
            </a:pPr>
            <a:r>
              <a:t>Heart Disease Prediction System Using Machine Learning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200400"/>
            <a:ext cx="210312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A9A9A"/>
                </a:solidFill>
                <a:latin typeface="Calibri"/>
              </a:defRPr>
            </a:pPr>
            <a:r>
              <a:t>Submitted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Sandeep Kumar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5F5F5F"/>
                </a:solidFill>
                <a:latin typeface="Calibri"/>
              </a:defRPr>
            </a:pPr>
            <a:r>
              <a:t>MCA Student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A9A9A"/>
                </a:solidFill>
                <a:latin typeface="Calibri"/>
              </a:defRPr>
            </a:pPr>
            <a:r>
              <a:t>Under the Guidance of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Amit Kharb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297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5F5F5F"/>
                </a:solidFill>
                <a:latin typeface="Calibri"/>
              </a:defRPr>
            </a:pPr>
            <a:r>
              <a:t>Project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1206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A9A9A"/>
                </a:solidFill>
                <a:latin typeface="Calibri"/>
              </a:defRPr>
            </a:pPr>
            <a:r>
              <a:t>MCA Final Year Project  •  Academic Year 2025–2026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D2B45"/>
                </a:solidFill>
                <a:latin typeface="Calibri"/>
              </a:defRPr>
            </a:pPr>
            <a: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Introduction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Methodology &amp;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Algorithm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49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Results &amp;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Feature Importance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240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572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49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349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A9A9A"/>
                </a:solidFill>
                <a:latin typeface="Calibri"/>
              </a:defRPr>
            </a:pPr>
            <a:r>
              <a:t>CardioPredict  |  Sandeep Kumar  |  MCA  |  Sikkim Manipal University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D2B45"/>
                </a:solidFill>
                <a:latin typeface="Calibri"/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1000"/>
              </a:spcBef>
              <a:defRPr sz="1400" b="0">
                <a:solidFill>
                  <a:srgbClr val="1A1A1A"/>
                </a:solidFill>
                <a:latin typeface="Calibri"/>
              </a:defRPr>
            </a:pPr>
            <a:r>
              <a:t>• CVDs are the #1 cause of death globally — 17.9 million deaths/year (WHO)</a:t>
            </a:r>
          </a:p>
          <a:p>
            <a:pPr algn="l">
              <a:spcBef>
                <a:spcPts val="1400"/>
              </a:spcBef>
              <a:defRPr sz="1400" b="0">
                <a:solidFill>
                  <a:srgbClr val="1A1A1A"/>
                </a:solidFill>
                <a:latin typeface="Calibri"/>
              </a:defRPr>
            </a:pPr>
            <a:r>
              <a:t>• In India, CVDs account for 28% of all deaths</a:t>
            </a:r>
          </a:p>
          <a:p>
            <a:pPr algn="l">
              <a:spcBef>
                <a:spcPts val="1400"/>
              </a:spcBef>
              <a:defRPr sz="1400" b="0">
                <a:solidFill>
                  <a:srgbClr val="1A1A1A"/>
                </a:solidFill>
                <a:latin typeface="Calibri"/>
              </a:defRPr>
            </a:pPr>
            <a:r>
              <a:t>• Conventional diagnostics (ECG, angiography) are expensive and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5F5F5F"/>
                </a:solidFill>
                <a:latin typeface="Calibri"/>
              </a:defRPr>
            </a:pPr>
            <a:r>
              <a:t>  unavailable in most rural primary healthcare centres</a:t>
            </a:r>
          </a:p>
          <a:p>
            <a:pPr algn="l">
              <a:spcBef>
                <a:spcPts val="1400"/>
              </a:spcBef>
              <a:defRPr sz="1400" b="0">
                <a:solidFill>
                  <a:srgbClr val="1A1A1A"/>
                </a:solidFill>
                <a:latin typeface="Calibri"/>
              </a:defRPr>
            </a:pPr>
            <a:r>
              <a:t>• ML can analyse routine clinical data to estimate heart disease</a:t>
            </a:r>
          </a:p>
          <a:p>
            <a:pPr algn="l">
              <a:spcBef>
                <a:spcPts val="200"/>
              </a:spcBef>
              <a:defRPr sz="1400" b="0">
                <a:solidFill>
                  <a:srgbClr val="5F5F5F"/>
                </a:solidFill>
                <a:latin typeface="Calibri"/>
              </a:defRPr>
            </a:pPr>
            <a:r>
              <a:t>  risk with accuracy comparable to specialists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371600"/>
            <a:ext cx="3474720" cy="3474720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554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92024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1A1A1A"/>
                </a:solidFill>
                <a:latin typeface="Calibri"/>
              </a:defRPr>
            </a:pPr>
            <a:r>
              <a:t>No affordable screening tool exists for primary care clinics.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0">
                <a:solidFill>
                  <a:srgbClr val="1A1A1A"/>
                </a:solidFill>
                <a:latin typeface="Calibri"/>
              </a:defRPr>
            </a:pPr>
            <a:r>
              <a:t>Most ML models from research exist only as Jupyter notebooks — no UI, no validation.</a:t>
            </a:r>
          </a:p>
          <a:p>
            <a:pPr algn="l">
              <a:spcBef>
                <a:spcPts val="600"/>
              </a:spcBef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200" b="1">
                <a:solidFill>
                  <a:srgbClr val="1F4E79"/>
                </a:solidFill>
                <a:latin typeface="Calibri"/>
              </a:defRPr>
            </a:pPr>
            <a:r>
              <a:t>CardioPredict bridges this gap with a complete web application.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A9A9A"/>
                </a:solidFill>
                <a:latin typeface="Calibri"/>
              </a:defRPr>
            </a:pPr>
            <a:r>
              <a:t>CardioPredict  |  Sandeep Kumar  |  MCA  |  Sikkim Manipal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D2B45"/>
                </a:solidFill>
                <a:latin typeface="Calibri"/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Analyse the Cleveland Heart Disease dataset (303 records, 13 clinical features)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574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Train and compare 7 classification algorithms using 10-fold stratified cross-validation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Build a responsive Flask web application for clinical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Implement dual-layer input validation (client-side + server-side)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1148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Store prediction history in SQLite for patient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00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Containerise with Docker for one-command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4864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A1A1A"/>
                </a:solidFill>
                <a:latin typeface="Calibri"/>
              </a:defRPr>
            </a:pPr>
            <a:r>
              <a:t>Achieve 28 automated test cases covering all critical paths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A9A9A"/>
                </a:solidFill>
                <a:latin typeface="Calibri"/>
              </a:defRPr>
            </a:pPr>
            <a:r>
              <a:t>CardioPredict  |  Sandeep Kumar  |  MCA  |  Sikkim Manipal University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D2B45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5F5F5F"/>
                </a:solidFill>
                <a:latin typeface="Calibri"/>
              </a:defRPr>
            </a:pPr>
            <a:r>
              <a:t>Cleveland Heart Disease Dataset  —  UCI Machine Learning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2560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F4E79"/>
                </a:solidFill>
                <a:latin typeface="Calibri"/>
              </a:defRPr>
            </a:pPr>
            <a:r>
              <a:t>303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F5F5F"/>
                </a:solidFill>
                <a:latin typeface="Calibri"/>
              </a:defRPr>
            </a:pPr>
            <a:r>
              <a:t>Patient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737360"/>
            <a:ext cx="2560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F4E79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F5F5F"/>
                </a:solidFill>
                <a:latin typeface="Calibri"/>
              </a:defRPr>
            </a:pPr>
            <a:r>
              <a:t>Clinical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37360"/>
            <a:ext cx="2560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F4E7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F5F5F"/>
                </a:solidFill>
                <a:latin typeface="Calibri"/>
              </a:defRPr>
            </a:pPr>
            <a:r>
              <a:t>Classes (Disease / No Disease)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737360"/>
            <a:ext cx="25603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17830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F4E79"/>
                </a:solidFill>
                <a:latin typeface="Calibri"/>
              </a:defRPr>
            </a:pPr>
            <a:r>
              <a:t>80 : 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1945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5F5F5F"/>
                </a:solidFill>
                <a:latin typeface="Calibri"/>
              </a:defRPr>
            </a:pPr>
            <a:r>
              <a:t>Train-Test Split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31520" y="2743200"/>
          <a:ext cx="1069848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4114800"/>
                <a:gridCol w="475488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Age in years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29–77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sex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Gender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 = F, 1 = M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Chest pain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0–3 (4 types)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trestbps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Resting blood pressure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94–200 mm Hg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chol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Serum cholesterol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126–564 mg/dl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fbs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Fasting blood sugar &gt; 120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 or 1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restecg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Resting ECG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thalach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Max heart rate achieved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71–202 bpm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Exercise-induced angina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 or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oldpeak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 depression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0–6.2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slope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ST segment slope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ca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Major vessels (fluoroscopy)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0–3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thal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Thalassemia type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0–2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A9A9A"/>
                </a:solidFill>
                <a:latin typeface="Calibri"/>
              </a:defRPr>
            </a:pPr>
            <a:r>
              <a:t>CardioPredict  |  Sandeep Kumar  |  MCA  |  Sikkim Manipal University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D2B45"/>
                </a:solidFill>
                <a:latin typeface="Calibri"/>
              </a:defRPr>
            </a:pPr>
            <a:r>
              <a:t>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234440" cy="777240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Data</a:t>
            </a:r>
            <a:br/>
            <a:r>
              <a:t>Loading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F4E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1965960" y="1371600"/>
            <a:ext cx="1234440" cy="777240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41732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F4E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1234440" cy="777240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1732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Pre-</a:t>
            </a:r>
            <a:br/>
            <a: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F4E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371600"/>
            <a:ext cx="1234440" cy="777240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41732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Feature</a:t>
            </a:r>
            <a:br/>
            <a:r>
              <a:t>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F4E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1234440" cy="777240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41732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Train/Test</a:t>
            </a:r>
            <a:br/>
            <a:r>
              <a:t>Split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F4E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1371600"/>
            <a:ext cx="1234440" cy="777240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141732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Model</a:t>
            </a:r>
            <a:br/>
            <a:r>
              <a:t>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F4E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371600"/>
            <a:ext cx="1234440" cy="777240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141732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0" y="15544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F4E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69880" y="1371600"/>
            <a:ext cx="1234440" cy="777240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69880" y="1417320"/>
            <a:ext cx="1234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Serialise</a:t>
            </a:r>
            <a:br/>
            <a:r>
              <a:t>(.pkl)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2560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Preprocessing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• Median imputation for missing values (ca, thal)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• StandardScaler normalisation (zero mean, unit variance)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• Stratified 80/20 split (242 / 61 samples)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• random_state = 42 for reproducibility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5603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  <a:latin typeface="Calibri"/>
              </a:defRPr>
            </a:pPr>
            <a:r>
              <a:t>Evaluation Strategy</a:t>
            </a:r>
          </a:p>
          <a:p>
            <a:pPr algn="l">
              <a:spcBef>
                <a:spcPts val="8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• Stratified 10-fold cross-validation ensures each fold</a:t>
            </a:r>
          </a:p>
          <a:p>
            <a:pPr algn="l">
              <a:spcBef>
                <a:spcPts val="200"/>
              </a:spcBef>
              <a:defRPr sz="1300" b="0">
                <a:solidFill>
                  <a:srgbClr val="5F5F5F"/>
                </a:solidFill>
                <a:latin typeface="Calibri"/>
              </a:defRPr>
            </a:pPr>
            <a:r>
              <a:t>  has balanced representation of both classes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• Metrics: Accuracy, Precision, Recall, F1-Score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• Confusion matrix + ROC-AUC curve analysis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• Comparison across 7 algorithms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A9A9A"/>
                </a:solidFill>
                <a:latin typeface="Calibri"/>
              </a:defRPr>
            </a:pPr>
            <a:r>
              <a:t>CardioPredict  |  Sandeep Kumar  |  MCA  |  Sikkim Manipal University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D2B45"/>
                </a:solidFill>
                <a:latin typeface="Calibri"/>
              </a:defRPr>
            </a:pPr>
            <a:r>
              <a:t>Algorithm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lgorith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5989320"/>
            <a:ext cx="9052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F4E79"/>
                </a:solidFill>
                <a:latin typeface="Calibri"/>
              </a:defRPr>
            </a:pPr>
            <a:r>
              <a:t>Random Forest wins with 85.04% — ensemble of 100 trees reduces overfitting while handling mixed feature types.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A9A9A"/>
                </a:solidFill>
                <a:latin typeface="Calibri"/>
              </a:defRPr>
            </a:pPr>
            <a:r>
              <a:t>CardioPredict  |  Sandeep Kumar  |  MCA  |  Sikkim Manipal University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D2B45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5F5F5F"/>
                </a:solidFill>
                <a:latin typeface="Calibri"/>
              </a:defRPr>
            </a:pPr>
            <a:r>
              <a:t>Test Set Performance (61 samples)</a:t>
            </a:r>
          </a:p>
        </p:txBody>
      </p:sp>
      <p:pic>
        <p:nvPicPr>
          <p:cNvPr id="6" name="Picture 5" descr="tes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858000" cy="3200400"/>
          </a:xfrm>
          <a:prstGeom prst="rect">
            <a:avLst/>
          </a:prstGeom>
        </p:spPr>
      </p:pic>
      <p:pic>
        <p:nvPicPr>
          <p:cNvPr id="7" name="Picture 6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188720"/>
            <a:ext cx="4389120" cy="3657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31520" y="5120640"/>
            <a:ext cx="10698480" cy="914400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  <a:latin typeface="Calibri"/>
              </a:defRPr>
            </a:pPr>
            <a:r>
              <a:t>Key 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defRPr sz="1200" b="0">
                <a:solidFill>
                  <a:srgbClr val="1A1A1A"/>
                </a:solidFill>
                <a:latin typeface="Calibri"/>
              </a:defRPr>
            </a:pPr>
            <a:r>
              <a:t>Recall = 96.97%  —  Only 1 false negative out of 33 disease cases. In medical screening, missing a disease case is far more dangerous than a false alarm.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A9A9A"/>
                </a:solidFill>
                <a:latin typeface="Calibri"/>
              </a:defRPr>
            </a:pPr>
            <a:r>
              <a:t>CardioPredict  |  Sandeep Kumar  |  MCA  |  Sikkim Manipal University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D2B45"/>
                </a:solidFill>
                <a:latin typeface="Calibri"/>
              </a:defRPr>
            </a:pPr>
            <a:r>
              <a:t>Feature Importance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1097280"/>
            <a:ext cx="3200400" cy="5029200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0" y="11887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F4E79"/>
                </a:solidFill>
                <a:latin typeface="Calibri"/>
              </a:defRPr>
            </a:pPr>
            <a:r>
              <a:t>Clinical 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554480"/>
            <a:ext cx="2834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100" b="1">
                <a:solidFill>
                  <a:srgbClr val="1F4E79"/>
                </a:solidFill>
                <a:latin typeface="Calibri"/>
              </a:defRPr>
            </a:pPr>
            <a:r>
              <a:t>Max Heart Rate: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1A1A1A"/>
                </a:solidFill>
                <a:latin typeface="Calibri"/>
              </a:defRPr>
            </a:pPr>
            <a:r>
              <a:t>Lower max HR → reduced cardiac reserve → higher risk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100" b="1">
                <a:solidFill>
                  <a:srgbClr val="1F4E79"/>
                </a:solidFill>
                <a:latin typeface="Calibri"/>
              </a:defRPr>
            </a:pPr>
            <a:r>
              <a:t>Chest Pain Type: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1A1A1A"/>
                </a:solidFill>
                <a:latin typeface="Calibri"/>
              </a:defRPr>
            </a:pPr>
            <a:r>
              <a:t>Asymptomatic (cp=3) is paradoxically the highest risk category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100" b="1">
                <a:solidFill>
                  <a:srgbClr val="1F4E79"/>
                </a:solidFill>
                <a:latin typeface="Calibri"/>
              </a:defRPr>
            </a:pPr>
            <a:r>
              <a:t>ST Depression: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1A1A1A"/>
                </a:solidFill>
                <a:latin typeface="Calibri"/>
              </a:defRPr>
            </a:pPr>
            <a:r>
              <a:t>Exercise-induced myocardial ischaemia — direct indicator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100" b="1">
                <a:solidFill>
                  <a:srgbClr val="1F4E79"/>
                </a:solidFill>
                <a:latin typeface="Calibri"/>
              </a:defRPr>
            </a:pPr>
            <a:r>
              <a:t>Major Vessels (ca):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1A1A1A"/>
                </a:solidFill>
                <a:latin typeface="Calibri"/>
              </a:defRPr>
            </a:pPr>
            <a:r>
              <a:t>More blocked vessels = worse coronary patency</a:t>
            </a:r>
          </a:p>
          <a:p>
            <a:pPr algn="l">
              <a:spcBef>
                <a:spcPts val="400"/>
              </a:spcBef>
              <a:defRPr sz="600" b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100" b="1">
                <a:solidFill>
                  <a:srgbClr val="1F4E79"/>
                </a:solidFill>
                <a:latin typeface="Calibri"/>
              </a:defRPr>
            </a:pPr>
            <a:r>
              <a:t>Thalassemia (thal):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1A1A1A"/>
                </a:solidFill>
                <a:latin typeface="Calibri"/>
              </a:defRPr>
            </a:pPr>
            <a:r>
              <a:t>Blood disorder affecting oxygen transport — perfusion defect marker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A9A9A"/>
                </a:solidFill>
                <a:latin typeface="Calibri"/>
              </a:defRPr>
            </a:pPr>
            <a:r>
              <a:t>CardioPredict  |  Sandeep Kumar  |  MCA  |  Sikkim Manipal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D2B45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371600"/>
          <a:ext cx="94183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  <a:gridCol w="393192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Technology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Language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Python 3.9+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Backend, ML training, scripting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ML Libraries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scikit-learn, pandas, NumPy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Data processing and model training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Web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Flask 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HTTP routing, template rendering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HTML5, CSS3, JavaScript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User interface (no frameworks)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SQLite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Prediction history 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Testing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pytest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28 automated test cases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Containerisation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Docker + Gunicorn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Production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Version Control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Git + GitHub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Source code management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A9A9A"/>
                </a:solidFill>
                <a:latin typeface="Calibri"/>
              </a:defRPr>
            </a:pPr>
            <a:r>
              <a:t>CardioPredict  |  Sandeep Kumar  |  MCA  |  Sikkim Manipal University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D2B45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5F5F5F"/>
                </a:solidFill>
                <a:latin typeface="Calibri"/>
              </a:defRPr>
            </a:pPr>
            <a:r>
              <a:t>Model-View-Controller (MVC)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606040" cy="1828800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F4E79"/>
                </a:solidFill>
                <a:latin typeface="Calibri"/>
              </a:defRPr>
            </a:pPr>
            <a:r>
              <a:t>Browser (Client)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0312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HTML/CSS/JS</a:t>
            </a:r>
            <a:br/>
            <a:r>
              <a:t>User input forms</a:t>
            </a:r>
            <a:br/>
            <a:r>
              <a:t>localStorage prefs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286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1F4E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645920"/>
            <a:ext cx="2606040" cy="1828800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737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F4E79"/>
                </a:solidFill>
                <a:latin typeface="Calibri"/>
              </a:defRPr>
            </a:pPr>
            <a:r>
              <a:t>Flask (Controller)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10312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Route handlers</a:t>
            </a:r>
            <a:br/>
            <a:r>
              <a:t>Input validation</a:t>
            </a:r>
            <a:br/>
            <a:r>
              <a:t>Template rendering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286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1F4E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645920"/>
            <a:ext cx="2606040" cy="1828800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737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F4E79"/>
                </a:solidFill>
                <a:latin typeface="Calibri"/>
              </a:defRPr>
            </a:pPr>
            <a:r>
              <a:t>ML Model (Model)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10312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StandardScaler</a:t>
            </a:r>
            <a:br/>
            <a:r>
              <a:t>Random Forest</a:t>
            </a:r>
            <a:br/>
            <a:r>
              <a:t>predict_proba()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2860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1F4E7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1645920"/>
            <a:ext cx="2606040" cy="1828800"/>
          </a:xfrm>
          <a:prstGeom prst="rect">
            <a:avLst/>
          </a:prstGeom>
          <a:solidFill>
            <a:srgbClr val="D6E4F0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173736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F4E79"/>
                </a:solidFill>
                <a:latin typeface="Calibri"/>
              </a:defRPr>
            </a:pPr>
            <a:r>
              <a:t>SQLite (Storage)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103120"/>
            <a:ext cx="2331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Prediction records</a:t>
            </a:r>
            <a:br/>
            <a:r>
              <a:t>Timestamps</a:t>
            </a:r>
            <a:br/>
            <a:r>
              <a:t>CRUD operations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10698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23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F4E79"/>
                </a:solidFill>
                <a:latin typeface="Calibri"/>
              </a:defRPr>
            </a:pPr>
            <a:r>
              <a:t>Request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3891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1A1A1A"/>
                </a:solidFill>
                <a:latin typeface="Calibri"/>
              </a:defRPr>
            </a:pPr>
            <a:r>
              <a:t>User fills 13 fields → Browser validates (HTML5) → POST /predict → Flask validates server-side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1A1A1A"/>
                </a:solidFill>
                <a:latin typeface="Calibri"/>
              </a:defRPr>
            </a:pPr>
            <a:r>
              <a:t>→ NumPy array built → StandardScaler transforms → Random Forest predicts → SQLite saves result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1A1A1A"/>
                </a:solidFill>
                <a:latin typeface="Calibri"/>
              </a:defRPr>
            </a:pPr>
            <a:r>
              <a:t>→ Result page rendered with colour-coded risk indicator (green / amber / red)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A9A9A"/>
                </a:solidFill>
                <a:latin typeface="Calibri"/>
              </a:defRPr>
            </a:pPr>
            <a:r>
              <a:t>CardioPredict  |  Sandeep Kumar  |  MCA  |  Sikkim Manipal University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D2B45"/>
                </a:solidFill>
                <a:latin typeface="Calibri"/>
              </a:defRPr>
            </a:pPr>
            <a:r>
              <a:t>Live Demo — Application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234439"/>
            <a:ext cx="54864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reenshot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39496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5661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F4E79"/>
                </a:solidFill>
                <a:latin typeface="Calibri"/>
              </a:defRPr>
            </a:pPr>
            <a:r>
              <a:t>Home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234439"/>
            <a:ext cx="54864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_re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80160"/>
            <a:ext cx="5394960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35661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F4E79"/>
                </a:solidFill>
                <a:latin typeface="Calibri"/>
              </a:defRPr>
            </a:pPr>
            <a:r>
              <a:t>Prediction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794760"/>
            <a:ext cx="54864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_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40480"/>
            <a:ext cx="5394960" cy="2286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6126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F4E79"/>
                </a:solidFill>
                <a:latin typeface="Calibri"/>
              </a:defRPr>
            </a:pPr>
            <a:r>
              <a:t>Prediction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3794760"/>
            <a:ext cx="5486400" cy="2423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shot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3840480"/>
            <a:ext cx="5394960" cy="228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35040" y="6126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F4E79"/>
                </a:solidFill>
                <a:latin typeface="Calibri"/>
              </a:defRPr>
            </a:pPr>
            <a:r>
              <a:t>Dark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A9A9A"/>
                </a:solidFill>
                <a:latin typeface="Calibri"/>
              </a:defRPr>
            </a:pPr>
            <a:r>
              <a:t>CardioPredict  |  Sandeep Kumar  |  MCA  |  Sikkim Manipal University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D2B45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5F5F5F"/>
                </a:solidFill>
                <a:latin typeface="Calibri"/>
              </a:defRPr>
            </a:pPr>
            <a:r>
              <a:t>28 automated test cases using pytest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640080"/>
                <a:gridCol w="77724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Is Verified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Route Connectivity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All pages return HTTP 200, health API responds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Prediction Logic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Form submission, JSON API, missing field handling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Content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Footer text, medical disclaimer, all 13 form fields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Edge Cases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Extreme age (100), all-zero input, 404 handling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Model Metadata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metadata.json exists, contains all required keys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Database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Predictions saved correctly, history page works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Input bounds, type validation, SQL injection prevention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Accessibility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1A"/>
                          </a:solidFill>
                          <a:latin typeface="Calibri"/>
                        </a:defRPr>
                      </a:pPr>
                      <a:r>
                        <a:t>Dark mode toggle, responsive layout, screen reader tags</a:t>
                      </a:r>
                    </a:p>
                  </a:txBody>
                  <a:tcPr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solidFill>
            <a:srgbClr val="E8F5E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27AE60"/>
                </a:solidFill>
                <a:latin typeface="Calibri"/>
              </a:defRPr>
            </a:pPr>
            <a:r>
              <a:t>Result:  28 passed  •  0 failed  •  2.34 seconds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A9A9A"/>
                </a:solidFill>
                <a:latin typeface="Calibri"/>
              </a:defRPr>
            </a:pPr>
            <a:r>
              <a:t>CardioPredict  |  Sandeep Kumar  |  MCA  |  Sikkim Manipal University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D2B45"/>
                </a:solidFill>
                <a:latin typeface="Calibri"/>
              </a:defRPr>
            </a:pPr>
            <a: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4E79"/>
                </a:solidFill>
                <a:latin typeface="Calibri"/>
              </a:defRPr>
            </a:pPr>
            <a:r>
              <a:t>What Was Achieved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✓  Random Forest — 81.97% accuracy, 96.97% recall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✓  Full-stack Flask web application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✓  Dark mode UI with accessibility features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✓  SQLite prediction history with CRUD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✓  REST API endpoint for programmatic access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✓  Docker + Gunicorn production deployment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✓  28 automated tests — all passing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✓  100+ page comprehensive project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4E79"/>
                </a:solidFill>
                <a:latin typeface="Calibri"/>
              </a:defRPr>
            </a:pPr>
            <a:r>
              <a:t>Future Scope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→  Larger, multi-hospital training datasets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→  Deep learning models (TabNet, neural networks)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→  Microservice-based API architecture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→  User authentication with OAuth 2.0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→  PDF report generation for clinicians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→  PostgreSQL for production-scale database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→  Progressive Web App for mobile access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1A1A1A"/>
                </a:solidFill>
                <a:latin typeface="Calibri"/>
              </a:defRPr>
            </a:pPr>
            <a:r>
              <a:t>→  Continuous model retraining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9A9A9A"/>
                </a:solidFill>
                <a:latin typeface="Calibri"/>
              </a:defRPr>
            </a:pPr>
            <a:r>
              <a:t>CardioPredict  |  Sandeep Kumar  |  MCA  |  Sikkim Manipal University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0D2B45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743200"/>
            <a:ext cx="2103120" cy="25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5F5F5F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1A1A1A"/>
                </a:solidFill>
                <a:latin typeface="Calibri"/>
              </a:defRPr>
            </a:pPr>
            <a:r>
              <a:t>Sandeep Kumar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5F5F5F"/>
                </a:solidFill>
                <a:latin typeface="Calibri"/>
              </a:defRPr>
            </a:pPr>
            <a:r>
              <a:t>Master of Computer Applications  |  Sikkim Manipal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6177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9A9A9A"/>
                </a:solidFill>
                <a:latin typeface="Calibri"/>
              </a:defRPr>
            </a:pPr>
            <a:r>
              <a:t>Guide: Amit Kharb  |  Academic Year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F4E79"/>
                </a:solidFill>
                <a:latin typeface="Calibri"/>
              </a:defRPr>
            </a:pPr>
            <a:r>
              <a:t>github.com/sandeeep-kr/HeartDiseaseProject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F4E79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