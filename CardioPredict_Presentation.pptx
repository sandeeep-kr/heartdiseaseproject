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5F5F5F"/>
                </a:solidFill>
                <a:latin typeface="Calibri"/>
              </a:defRPr>
            </a:pPr>
            <a:r>
              <a:t>Sikkim Manipal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Department of Computer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46304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0D2B45"/>
                </a:solidFill>
                <a:latin typeface="Calibri"/>
              </a:defRPr>
            </a:pPr>
            <a:r>
              <a:t>CardioPredict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5F5F5F"/>
                </a:solidFill>
                <a:latin typeface="Calibri"/>
              </a:defRPr>
            </a:pPr>
            <a:r>
              <a:t>Heart Disease Prediction System Using Machine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2103120" cy="254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3657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Submitted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931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297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F5F5F"/>
                </a:solidFill>
                <a:latin typeface="Calibri"/>
              </a:defRPr>
            </a:pPr>
            <a:r>
              <a:t>MCA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657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Under the Guidance 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931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Amit Kharb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297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F5F5F"/>
                </a:solidFill>
                <a:latin typeface="Calibri"/>
              </a:defRPr>
            </a:pPr>
            <a:r>
              <a:t>Project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2064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MCA Final Year Project  •  Academic Year 2025–2026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Introduction &amp; 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40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794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Methodology &amp;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49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349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Results &amp;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463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240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240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017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94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794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349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349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6858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CVDs are the #1 cause of death globally — 17.9 million deaths/year (WHO)</a:t>
            </a:r>
          </a:p>
          <a:p>
            <a:pPr algn="l">
              <a:spcBef>
                <a:spcPts val="1400"/>
              </a:spcBef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In India, CVDs account for 28% of all deaths</a:t>
            </a:r>
          </a:p>
          <a:p>
            <a:pPr algn="l">
              <a:spcBef>
                <a:spcPts val="1400"/>
              </a:spcBef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Conventional diagnostics (ECG, angiography) are expensive and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5F5F5F"/>
                </a:solidFill>
                <a:latin typeface="Calibri"/>
              </a:defRPr>
            </a:pPr>
            <a:r>
              <a:t>  unavailable in most rural primary healthcare centres</a:t>
            </a:r>
          </a:p>
          <a:p>
            <a:pPr algn="l">
              <a:spcBef>
                <a:spcPts val="1400"/>
              </a:spcBef>
              <a:defRPr sz="1400" b="0">
                <a:solidFill>
                  <a:srgbClr val="1A1A1A"/>
                </a:solidFill>
                <a:latin typeface="Calibri"/>
              </a:defRPr>
            </a:pPr>
            <a:r>
              <a:t>• ML can analyse routine clinical data to estimate heart disease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5F5F5F"/>
                </a:solidFill>
                <a:latin typeface="Calibri"/>
              </a:defRPr>
            </a:pPr>
            <a:r>
              <a:t>  risk with accuracy comparable to specialists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371600"/>
            <a:ext cx="3474720" cy="34747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5544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92024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No affordable screening tool exists for primary care clinics.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Most ML models from research exist only as Jupyter notebooks — no UI, no validation.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1">
                <a:solidFill>
                  <a:srgbClr val="1F4E79"/>
                </a:solidFill>
                <a:latin typeface="Calibri"/>
              </a:defRPr>
            </a:pPr>
            <a:r>
              <a:t>CardioPredict bridges this gap with a complete web application.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71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Analyse the Cleveland Heart Disease dataset (303 records, 13 clinical features)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574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Train and compare 7 classification algorithms using 10-fold stratified cross-validation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43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Build a responsive Flask web application for clinical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Implement dual-layer input validation (client-side + server-side)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148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Store prediction history in SQLite for patient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800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Containerise with Docker for one-command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86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4864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Achieve 28 automated test cases covering all critical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5F5F5F"/>
                </a:solidFill>
                <a:latin typeface="Calibri"/>
              </a:defRPr>
            </a:pPr>
            <a:r>
              <a:t>Cleveland Heart Disease Dataset  —  UCI Machine Learning Repository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25603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F4E79"/>
                </a:solidFill>
                <a:latin typeface="Calibri"/>
              </a:defRPr>
            </a:pPr>
            <a:r>
              <a:t>303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5F5F5F"/>
                </a:solidFill>
                <a:latin typeface="Calibri"/>
              </a:defRPr>
            </a:pPr>
            <a:r>
              <a:t>Patient 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737360"/>
            <a:ext cx="25603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783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F4E79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5F5F5F"/>
                </a:solidFill>
                <a:latin typeface="Calibri"/>
              </a:defRPr>
            </a:pPr>
            <a:r>
              <a:t>Clinical 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37360"/>
            <a:ext cx="25603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783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F4E7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5F5F5F"/>
                </a:solidFill>
                <a:latin typeface="Calibri"/>
              </a:defRPr>
            </a:pPr>
            <a:r>
              <a:t>Classes (Disease / No Disease)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737360"/>
            <a:ext cx="256032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7830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F4E79"/>
                </a:solidFill>
                <a:latin typeface="Calibri"/>
              </a:defRPr>
            </a:pPr>
            <a:r>
              <a:t>80 : 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5F5F5F"/>
                </a:solidFill>
                <a:latin typeface="Calibri"/>
              </a:defRPr>
            </a:pPr>
            <a:r>
              <a:t>Train-Test Split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2743200"/>
          <a:ext cx="106984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371600"/>
                <a:gridCol w="4114800"/>
                <a:gridCol w="475488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 in years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29–77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sex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Gender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= F, 1 = M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Chest pain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 (4 types)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trestbps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blood pressure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94–200 mm Hg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Serum cholesterol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126–564 mg/dl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fbs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Fasting blood sugar &gt; 120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restecg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ECG results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thalach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Max heart rate achieved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71–202 bpm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exang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Exercise-induced angina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oldpeak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depression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0–6.2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slope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segment slope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Major vessels (fluoroscopy)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Thalassemia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Data</a:t>
            </a:r>
            <a:br/>
            <a:r>
              <a:t>Loading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Pre-</a:t>
            </a:r>
            <a:br/>
            <a: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Feature</a:t>
            </a:r>
            <a:br/>
            <a:r>
              <a:t>Scaling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Train/Test</a:t>
            </a:r>
            <a:br/>
            <a:r>
              <a:t>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371600"/>
            <a:ext cx="1234440" cy="777240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Model</a:t>
            </a:r>
            <a:br/>
            <a:r>
              <a:t>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155448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69880" y="1371600"/>
            <a:ext cx="123444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1417320"/>
            <a:ext cx="1234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Serialise</a:t>
            </a:r>
            <a:br/>
            <a:r>
              <a:t>(.pkl)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560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F4E79"/>
                </a:solidFill>
                <a:latin typeface="Calibri"/>
              </a:defRPr>
            </a:pPr>
            <a:r>
              <a:t>Preprocessing</a:t>
            </a:r>
          </a:p>
          <a:p>
            <a:pPr algn="l">
              <a:spcBef>
                <a:spcPts val="8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Median imputation for missing values (ca, thal)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StandardScaler normalisation (zero mean, unit variance)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Stratified 80/20 split (242 / 61 samples)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random_state = 42 for reproducibility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560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F4E79"/>
                </a:solidFill>
                <a:latin typeface="Calibri"/>
              </a:defRPr>
            </a:pPr>
            <a:r>
              <a:t>Evaluation &amp; Tuning</a:t>
            </a:r>
          </a:p>
          <a:p>
            <a:pPr algn="l">
              <a:spcBef>
                <a:spcPts val="8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Stratified 10-fold cross-validation ensures each fold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5F5F5F"/>
                </a:solidFill>
                <a:latin typeface="Calibri"/>
              </a:defRPr>
            </a:pPr>
            <a:r>
              <a:t>  has balanced representation of both classes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Metrics: Accuracy, Precision, Recall, F1-Score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Confusion matrix + ROC-AUC curve analysis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Hyperparameter tuning via GridSearchCV: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5F5F5F"/>
                </a:solidFill>
                <a:latin typeface="Calibri"/>
              </a:defRPr>
            </a:pPr>
            <a:r>
              <a:t>  n_estimators=100 selected through systematic 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gorith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572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98932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F4E79"/>
                </a:solidFill>
                <a:latin typeface="Calibri"/>
              </a:defRPr>
            </a:pPr>
            <a:r>
              <a:t>Red line = 80% baseline. Random Forest (85.04%) — 100 trees via GridSearchCV; ensemble reduces overfitting across mixed features.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5F5F5F"/>
                </a:solidFill>
                <a:latin typeface="Calibri"/>
              </a:defRPr>
            </a:pPr>
            <a:r>
              <a:t>Test Set Performance (61 samples)</a:t>
            </a:r>
          </a:p>
        </p:txBody>
      </p:sp>
      <p:pic>
        <p:nvPicPr>
          <p:cNvPr id="6" name="Picture 5" descr="test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3200400"/>
          </a:xfrm>
          <a:prstGeom prst="rect">
            <a:avLst/>
          </a:prstGeom>
        </p:spPr>
      </p:pic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188720"/>
            <a:ext cx="4389120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6636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Recall = 96.97%  —  Only 1 false negative out of 33 disease cases. In medical screening, missing a disease case is far more dangerous than a false alarm.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77724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097280"/>
            <a:ext cx="3200400" cy="50292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1887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F4E79"/>
                </a:solidFill>
                <a:latin typeface="Calibri"/>
              </a:defRPr>
            </a:pPr>
            <a:r>
              <a:t>Clinical 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554480"/>
            <a:ext cx="2834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100" b="1">
                <a:solidFill>
                  <a:srgbClr val="1F4E79"/>
                </a:solidFill>
                <a:latin typeface="Calibri"/>
              </a:defRPr>
            </a:pPr>
            <a:r>
              <a:t>Max Heart Rate: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1A1A1A"/>
                </a:solidFill>
                <a:latin typeface="Calibri"/>
              </a:defRPr>
            </a:pPr>
            <a:r>
              <a:t>Lower max HR → reduced cardiac reserve → higher risk</a:t>
            </a:r>
          </a:p>
          <a:p>
            <a:pPr algn="l">
              <a:spcBef>
                <a:spcPts val="4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1">
                <a:solidFill>
                  <a:srgbClr val="1F4E79"/>
                </a:solidFill>
                <a:latin typeface="Calibri"/>
              </a:defRPr>
            </a:pPr>
            <a:r>
              <a:t>Chest Pain Type: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1A1A1A"/>
                </a:solidFill>
                <a:latin typeface="Calibri"/>
              </a:defRPr>
            </a:pPr>
            <a:r>
              <a:t>Asymptomatic (cp=3) is paradoxically the highest risk category</a:t>
            </a:r>
          </a:p>
          <a:p>
            <a:pPr algn="l">
              <a:spcBef>
                <a:spcPts val="4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1">
                <a:solidFill>
                  <a:srgbClr val="1F4E79"/>
                </a:solidFill>
                <a:latin typeface="Calibri"/>
              </a:defRPr>
            </a:pPr>
            <a:r>
              <a:t>ST Depression: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1A1A1A"/>
                </a:solidFill>
                <a:latin typeface="Calibri"/>
              </a:defRPr>
            </a:pPr>
            <a:r>
              <a:t>Exercise-induced myocardial ischaemia — direct indicator</a:t>
            </a:r>
          </a:p>
          <a:p>
            <a:pPr algn="l">
              <a:spcBef>
                <a:spcPts val="4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1">
                <a:solidFill>
                  <a:srgbClr val="1F4E79"/>
                </a:solidFill>
                <a:latin typeface="Calibri"/>
              </a:defRPr>
            </a:pPr>
            <a:r>
              <a:t>Major Vessels (ca):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1A1A1A"/>
                </a:solidFill>
                <a:latin typeface="Calibri"/>
              </a:defRPr>
            </a:pPr>
            <a:r>
              <a:t>More blocked vessels = worse coronary patency</a:t>
            </a:r>
          </a:p>
          <a:p>
            <a:pPr algn="l">
              <a:spcBef>
                <a:spcPts val="4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1">
                <a:solidFill>
                  <a:srgbClr val="1F4E79"/>
                </a:solidFill>
                <a:latin typeface="Calibri"/>
              </a:defRPr>
            </a:pPr>
            <a:r>
              <a:t>Thalassemia (thal):</a:t>
            </a:r>
          </a:p>
          <a:p>
            <a:pPr algn="l">
              <a:spcBef>
                <a:spcPts val="200"/>
              </a:spcBef>
              <a:defRPr sz="1000" b="0">
                <a:solidFill>
                  <a:srgbClr val="1A1A1A"/>
                </a:solidFill>
                <a:latin typeface="Calibri"/>
              </a:defRPr>
            </a:pPr>
            <a:r>
              <a:t>Blood disorder affecting oxygen transport — perfusion defect marker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371600"/>
          <a:ext cx="9418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93192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Python 3.9+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Backend, ML training, scripting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ML Libraries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scikit-learn, pandas, NumPy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 processing and model training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Web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Flask 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HTTP routing, template rendering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HTML5, CSS3, JavaScript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User interface (no frameworks)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SQLite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history 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Testing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pytest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28 automated test cases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Docker + Gunicorn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Production deployment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Version Control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Git + GitHub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Source code management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5F5F5F"/>
                </a:solidFill>
                <a:latin typeface="Calibri"/>
              </a:defRPr>
            </a:pPr>
            <a:r>
              <a:t>Model-View-Controller (MVC)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606040" cy="18288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Browser (Client)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HTML/CSS/JS</a:t>
            </a:r>
            <a:br/>
            <a:r>
              <a:t>User input forms</a:t>
            </a:r>
            <a:br/>
            <a:r>
              <a:t>localStorage prefs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2286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645920"/>
            <a:ext cx="2606040" cy="18288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17373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Flask (Controller)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10312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Route handlers</a:t>
            </a:r>
            <a:br/>
            <a:r>
              <a:t>Input validation</a:t>
            </a:r>
            <a:br/>
            <a:r>
              <a:t>Template rendering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286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645920"/>
            <a:ext cx="2606040" cy="18288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17373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ML Model (Model)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10312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StandardScaler</a:t>
            </a:r>
            <a:br/>
            <a:r>
              <a:t>Random Forest</a:t>
            </a:r>
            <a:br/>
            <a:r>
              <a:t>predict_proba()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1645920"/>
            <a:ext cx="2606040" cy="18288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17373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SQLite (Storage)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10312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Prediction records</a:t>
            </a:r>
            <a:br/>
            <a:r>
              <a:t>Timestamps</a:t>
            </a:r>
            <a:br/>
            <a:r>
              <a:t>CRUD operations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749039"/>
            <a:ext cx="502920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7947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F4E79"/>
                </a:solidFill>
                <a:latin typeface="Calibri"/>
              </a:defRPr>
            </a:pPr>
            <a:r>
              <a:t>Request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1480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Browser → POST /predict → Flask validates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→ StandardScaler + Random Forest inference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→ SQLite saves → colour-coded result rendered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749039"/>
            <a:ext cx="5212080" cy="1737360"/>
          </a:xfrm>
          <a:prstGeom prst="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7947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F4E79"/>
                </a:solidFill>
                <a:latin typeface="Calibri"/>
              </a:defRPr>
            </a:pPr>
            <a:r>
              <a:t>Production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148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🐳  Docker container — single-command deploy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⚡  Gunicorn WSGI — 4 worker processes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📦  All dependencies frozen in requirements.txt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🔒  Environment variables for config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Live Demo — Application Screenshots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234439"/>
            <a:ext cx="548640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reensho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39496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566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1F4E79"/>
                </a:solidFill>
                <a:latin typeface="Calibri"/>
              </a:defRPr>
            </a:pPr>
            <a:r>
              <a:t>Home Page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234439"/>
            <a:ext cx="548640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creenshot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539496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0" y="3566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1F4E79"/>
                </a:solidFill>
                <a:latin typeface="Calibri"/>
              </a:defRPr>
            </a:pPr>
            <a:r>
              <a:t>Prediction Result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794760"/>
            <a:ext cx="548640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reenshot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5394960" cy="2286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61264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1F4E79"/>
                </a:solidFill>
                <a:latin typeface="Calibri"/>
              </a:defRPr>
            </a:pPr>
            <a:r>
              <a:t>Prediction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3794760"/>
            <a:ext cx="5486400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reensho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0" y="3840480"/>
            <a:ext cx="5394960" cy="228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35040" y="61264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1F4E79"/>
                </a:solidFill>
                <a:latin typeface="Calibri"/>
              </a:defRPr>
            </a:pPr>
            <a:r>
              <a:t>Dark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5F5F5F"/>
                </a:solidFill>
                <a:latin typeface="Calibri"/>
              </a:defRPr>
            </a:pPr>
            <a:r>
              <a:t>28 automated test cases using pytest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40080"/>
                <a:gridCol w="77724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Is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Route Connectivity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All pages return HTTP 200, health API responds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Logic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Form submission, JSON API, missing field handling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Content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Footer text, medical disclaimer, all 13 form fields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Edge Cases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Extreme age (100), all-zero input, 404 handling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Model Metadata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metadata.json exists, contains all required keys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Predictions saved correctly, history page works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Security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Input bounds, type validation, SQL injection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Accessibility ★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Dark mode toggle, responsive layout, screen reader tags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solidFill>
            <a:srgbClr val="FDF2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BF6E00"/>
                </a:solidFill>
                <a:latin typeface="Calibri"/>
              </a:defRPr>
            </a:pPr>
            <a:r>
              <a:t>★  Security &amp; Accessibility tests highlight production-grade polish — SQL injection prevention, ARIA tags, Dark Mode, responsive design.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solidFill>
            <a:srgbClr val="E8F5E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623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27AE60"/>
                </a:solidFill>
                <a:latin typeface="Calibri"/>
              </a:defRPr>
            </a:pPr>
            <a:r>
              <a:t>Result:  28 passed  •  0 failed  •  2.34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D2B45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F4E79"/>
                </a:solidFill>
                <a:latin typeface="Calibri"/>
              </a:defRPr>
            </a:pPr>
            <a:r>
              <a:t>What Was Achieved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✓  Random Forest — 81.97% accuracy, 96.97% recall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✓  Full-stack Flask web application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✓  Dark mode UI with accessibility features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✓  SQLite prediction history with CRUD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✓  REST API endpoint for programmatic access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✓  Docker + Gunicorn production deployment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✓  28 automated tests — all passing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✓  100+ page comprehensive 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F4E79"/>
                </a:solidFill>
                <a:latin typeface="Calibri"/>
              </a:defRPr>
            </a:pPr>
            <a:r>
              <a:t>Future Scope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→  Larger, multi-hospital training datasets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→  Deep learning models (TabNet, neural networks)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→  Microservice-based API architecture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→  User authentication with OAuth 2.0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→  PDF report generation for clinicians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→  PostgreSQL for production-scale database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→  Progressive Web App for mobile access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→  Continuous model retraining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D2B45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74320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5F5F5F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5F5F5F"/>
                </a:solidFill>
                <a:latin typeface="Calibri"/>
              </a:defRPr>
            </a:pPr>
            <a:r>
              <a:t>Master of Computer Applications  |  Sikkim Manipal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Guide: Amit Kharb  |  Academic Year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1F4E79"/>
                </a:solidFill>
                <a:latin typeface="Calibri"/>
              </a:defRPr>
            </a:pPr>
            <a:r>
              <a:t>https://github.com/sandeeep-kr/HeartDiseaseProject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