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  <a:latin typeface="Calibri"/>
              </a:defRPr>
            </a:pPr>
            <a:r>
              <a:t>MCA FINAL YEAR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8B5CF6"/>
                </a:solidFill>
                <a:latin typeface="Calibri"/>
              </a:defRPr>
            </a:pPr>
            <a:r>
              <a:t>CardioPredict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  <a:latin typeface="Calibri"/>
              </a:defRPr>
            </a:pPr>
            <a:r>
              <a:t>Heart Disease Prediction System Using Machine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474720"/>
            <a:ext cx="301752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1F5F9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Master of Computer 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Sikkim Manipal University  •  Department of Computer Applications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Guide: Amit Kharb  |  Academic Year 2025–2026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760720"/>
            <a:ext cx="3931920" cy="411480"/>
          </a:xfrm>
          <a:prstGeom prst="roundRect">
            <a:avLst/>
          </a:prstGeom>
          <a:solidFill>
            <a:srgbClr val="16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57607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B82F6"/>
                </a:solidFill>
                <a:latin typeface="Calibri"/>
              </a:defRPr>
            </a:pPr>
            <a:r>
              <a:t>🫀  Flask  •  scikit-learn  •  Random Forest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Calibri"/>
              </a:defRPr>
            </a:pPr>
            <a:r>
              <a:t>Cardiovascular diseases kill 17.9 million people annually — the #1 cause of death globally.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60604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Calibri"/>
              </a:defRPr>
            </a:pPr>
            <a:r>
              <a:t>Expensive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ECG, angiography, and cardiac biomarker tests require specialised equipment and trained specialists.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2560320"/>
            <a:ext cx="260604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1F5F9"/>
                </a:solidFill>
                <a:latin typeface="Calibri"/>
              </a:defRPr>
            </a:pPr>
            <a:r>
              <a:t>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29184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Calibri"/>
              </a:defRPr>
            </a:pPr>
            <a:r>
              <a:t>Time-Consuming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749039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Traditional diagnostic pathways involve multiple visits, long waiting periods, and delayed results.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560320"/>
            <a:ext cx="260604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7432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9184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Calibri"/>
              </a:defRPr>
            </a:pPr>
            <a:r>
              <a:t>Limited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49039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Rural and semi-urban areas lack the specialised infrastructure needed for cardiac diagnostics.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560320"/>
            <a:ext cx="260604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59" y="27432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59" y="329184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3749039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An ML-powered screening tool using 13 routine clinical parameters for instant risk assessment.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</a:p>
          <a:p>
            <a:pPr algn="l">
              <a:spcBef>
                <a:spcPts val="1200"/>
              </a:spcBef>
              <a:defRPr sz="1800" b="0">
                <a:solidFill>
                  <a:srgbClr val="94A3B8"/>
                </a:solidFill>
                <a:latin typeface="Calibri"/>
              </a:defRPr>
            </a:pPr>
            <a:r>
              <a:t>1.  Analyse the Cleveland Heart Disease dataset (303 records, 13 features)</a:t>
            </a:r>
          </a:p>
          <a:p>
            <a:pPr algn="l">
              <a:spcBef>
                <a:spcPts val="1200"/>
              </a:spcBef>
              <a:defRPr sz="1800" b="0">
                <a:solidFill>
                  <a:srgbClr val="94A3B8"/>
                </a:solidFill>
                <a:latin typeface="Calibri"/>
              </a:defRPr>
            </a:pPr>
            <a:r>
              <a:t>2.  Train &amp; compare 7 ML classification algorithms</a:t>
            </a:r>
          </a:p>
          <a:p>
            <a:pPr algn="l">
              <a:spcBef>
                <a:spcPts val="1200"/>
              </a:spcBef>
              <a:defRPr sz="1800" b="0">
                <a:solidFill>
                  <a:srgbClr val="94A3B8"/>
                </a:solidFill>
                <a:latin typeface="Calibri"/>
              </a:defRPr>
            </a:pPr>
            <a:r>
              <a:t>3.  Build a responsive Flask web application for clinical users</a:t>
            </a:r>
          </a:p>
          <a:p>
            <a:pPr algn="l">
              <a:spcBef>
                <a:spcPts val="1200"/>
              </a:spcBef>
              <a:defRPr sz="1800" b="0">
                <a:solidFill>
                  <a:srgbClr val="94A3B8"/>
                </a:solidFill>
                <a:latin typeface="Calibri"/>
              </a:defRPr>
            </a:pPr>
            <a:r>
              <a:t>4.  Implement dual-layer input validation (client + server)</a:t>
            </a:r>
          </a:p>
          <a:p>
            <a:pPr algn="l">
              <a:spcBef>
                <a:spcPts val="1200"/>
              </a:spcBef>
              <a:defRPr sz="1800" b="0">
                <a:solidFill>
                  <a:srgbClr val="94A3B8"/>
                </a:solidFill>
                <a:latin typeface="Calibri"/>
              </a:defRPr>
            </a:pPr>
            <a:r>
              <a:t>5.  Store prediction history using SQLite database</a:t>
            </a:r>
          </a:p>
          <a:p>
            <a:pPr algn="l">
              <a:spcBef>
                <a:spcPts val="1200"/>
              </a:spcBef>
              <a:defRPr sz="1800" b="0">
                <a:solidFill>
                  <a:srgbClr val="94A3B8"/>
                </a:solidFill>
                <a:latin typeface="Calibri"/>
              </a:defRPr>
            </a:pPr>
            <a:r>
              <a:t>6.  Containerise with Docker for portable deployment</a:t>
            </a:r>
          </a:p>
          <a:p>
            <a:pPr algn="l">
              <a:spcBef>
                <a:spcPts val="1200"/>
              </a:spcBef>
              <a:defRPr sz="1800" b="0">
                <a:solidFill>
                  <a:srgbClr val="94A3B8"/>
                </a:solidFill>
                <a:latin typeface="Calibri"/>
              </a:defRPr>
            </a:pPr>
            <a:r>
              <a:t>7.  Test with 28 automated pytest test cases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Cleveland Heart Disease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606040" cy="11887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B5CF6"/>
                </a:solidFill>
                <a:latin typeface="Calibri"/>
              </a:defRPr>
            </a:pPr>
            <a:r>
              <a:t>303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Patient Records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39" y="1828800"/>
            <a:ext cx="2606040" cy="11887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920240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B5CF6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2560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Clinical Features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828800"/>
            <a:ext cx="2606040" cy="11887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920240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B5CF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2560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Target Classes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828800"/>
            <a:ext cx="2606040" cy="11887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920240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B5CF6"/>
                </a:solidFill>
                <a:latin typeface="Calibri"/>
              </a:defRPr>
            </a:pPr>
            <a:r>
              <a:t>UCI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2560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ML Repository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Key Features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Age, Sex, Chest Pain Type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Resting Blood Pressure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Serum Cholesterol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Fasting Blood Sugar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Resting ECG Results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Maximum Heart Rate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Exercise-Induced Angina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Additional Features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ST Depression (Oldpeak)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ST Slope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Major Vessels (Fluoroscopy)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Thalassemia Type</a:t>
            </a:r>
          </a:p>
          <a:p>
            <a:pPr algn="l">
              <a:spcBef>
                <a:spcPts val="1200"/>
              </a:spcBef>
              <a:defRPr sz="1000" b="0">
                <a:solidFill>
                  <a:srgbClr val="94A3B8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300" b="0">
                <a:solidFill>
                  <a:srgbClr val="22C55E"/>
                </a:solidFill>
                <a:latin typeface="Calibri"/>
              </a:defRPr>
            </a:pPr>
            <a:r>
              <a:t>Target 0: No Disease (138)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F59E0B"/>
                </a:solidFill>
                <a:latin typeface="Calibri"/>
              </a:defRPr>
            </a:pPr>
            <a:r>
              <a:t>Target 1: Disease (165)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1234440" cy="7772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📥 Data</a:t>
            </a:r>
            <a:br/>
            <a:r>
              <a:t>Loading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920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74519" y="1737360"/>
            <a:ext cx="1234440" cy="7772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178308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🔍 EDA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920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737360"/>
            <a:ext cx="1234440" cy="7772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78308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🧹 Pre-</a:t>
            </a:r>
            <a:br/>
            <a:r>
              <a:t>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20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1737360"/>
            <a:ext cx="1234440" cy="7772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178308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⚖️ Feature</a:t>
            </a:r>
            <a:br/>
            <a:r>
              <a:t>Scaling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920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737360"/>
            <a:ext cx="1234440" cy="7772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78308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✂️ Train/Test</a:t>
            </a:r>
            <a:br/>
            <a:r>
              <a:t>Split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920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1737360"/>
            <a:ext cx="1234440" cy="7772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0" y="178308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🤖 Model</a:t>
            </a:r>
            <a:br/>
            <a:r>
              <a:t>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920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1737360"/>
            <a:ext cx="1234440" cy="7772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0" y="178308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📊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5560" y="1920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78440" y="1737360"/>
            <a:ext cx="1234440" cy="7772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178308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💾 Serialise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926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Preprocessing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Missing values: Median imputation for ca, thal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Scaling: StandardScaler (z-score normalisation)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Split: 80/20 stratified train-test split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Seed: random_state=42 for reproducibility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926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Evaluation Strategy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Cross-Validation: 10-fold stratified CV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Metrics: Accuracy, Precision, Recall, F1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Visualisation: Confusion matrix, ROC-AUC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Comparison: 7 algorithms benchmarked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MODEL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Algorithm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828800"/>
          <a:ext cx="9418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743200"/>
                <a:gridCol w="1828800"/>
                <a:gridCol w="13716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CV Accuracy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Std Dev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🥇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85.04%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±5.96%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Ensemble (Bagging)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81.46%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±6.72%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Ensemble (Boosting)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K-Nearest Neighbours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80.58%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±7.13%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Instance-based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SVM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80.15%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±8.43%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Kernel-based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79.69%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±7.01%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Linear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AdaBoost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78.97%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±6.87%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Ensemble (Boosting)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73.95%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±7.26%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Tree-based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303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C55E"/>
                </a:solidFill>
                <a:latin typeface="Calibri"/>
              </a:defRPr>
            </a:pPr>
            <a:r>
              <a:t>✅  Random Forest selected — highest accuracy with competitive stability across folds.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Results — Test Set (61 Records)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0574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  <a:latin typeface="Calibri"/>
              </a:defRPr>
            </a:pPr>
            <a:r>
              <a:t>81.97%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737360"/>
            <a:ext cx="20574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1828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  <a:latin typeface="Calibri"/>
              </a:defRPr>
            </a:pPr>
            <a:r>
              <a:t>76.19%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3774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1737360"/>
            <a:ext cx="20574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1828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  <a:latin typeface="Calibri"/>
              </a:defRPr>
            </a:pPr>
            <a:r>
              <a:t>96.97%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3774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737360"/>
            <a:ext cx="20574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1828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Calibri"/>
              </a:defRPr>
            </a:pPr>
            <a:r>
              <a:t>85.33%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3774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1737360"/>
            <a:ext cx="20574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1828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B5CF6"/>
                </a:solidFill>
                <a:latin typeface="Calibri"/>
              </a:defRPr>
            </a:pPr>
            <a:r>
              <a:t>91.56%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3774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Confusion Matrix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14400" y="3657600"/>
          <a:ext cx="4572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00200"/>
                <a:gridCol w="16002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Predicted: 0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Predicted: 1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Actual: 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TN: 18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FP: 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Actual: 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FN: 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TP: 32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08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The model achieves 96.97% Recall — correctly identifying nearly all disease-positive patients.</a:t>
            </a:r>
          </a:p>
          <a:p>
            <a:pPr algn="l">
              <a:spcBef>
                <a:spcPts val="800"/>
              </a:spcBef>
              <a:defRPr sz="1000" b="0">
                <a:solidFill>
                  <a:srgbClr val="94A3B8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1">
                <a:solidFill>
                  <a:srgbClr val="EF4444"/>
                </a:solidFill>
                <a:latin typeface="Calibri"/>
              </a:defRPr>
            </a:pPr>
            <a:r>
              <a:t>Only 1 false negative in 61 test cases.</a:t>
            </a:r>
          </a:p>
          <a:p>
            <a:pPr algn="l">
              <a:spcBef>
                <a:spcPts val="800"/>
              </a:spcBef>
              <a:defRPr sz="1000" b="0">
                <a:solidFill>
                  <a:srgbClr val="94A3B8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In clinical screening, high recall is critical — missing a disease case has far more severe consequences than a false alarm.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MODEL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Top features driving the Random Forest predictions: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286000"/>
          <a:ext cx="94183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2004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Importance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1F5F9"/>
                          </a:solidFill>
                          <a:latin typeface="Calibri"/>
                        </a:defRPr>
                      </a:pPr>
                      <a:r>
                        <a:t>Clinical Meaning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thalach (Max Heart Rate)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Lower max HR = reduced cardiac reserve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cp (Chest Pain Type)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12.8%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Asymptomatic pain is highest risk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oldpeak (ST Depression)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11.5%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Exercise-induced myocardial ischaemia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ca (Major Vessels)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Coronary artery patency indicator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thal (Thalassemia)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10.8%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Perfusion abnormality marker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Rankings align with clinical knowledge — exercise/stress and angiographic features dominate over demographic factors.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BUILT WITH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0574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Core language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828800"/>
            <a:ext cx="20574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96596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🌶️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468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Flask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8346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Web framework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828800"/>
            <a:ext cx="20574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96596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468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scikit-learn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8346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ML training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1828800"/>
            <a:ext cx="20574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196596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🗃️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468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SQLite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8346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1828800"/>
            <a:ext cx="20574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196596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468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8346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40480"/>
            <a:ext cx="20574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97764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48056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HTML/CSS/JS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463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71800" y="3840480"/>
            <a:ext cx="20574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71800" y="397764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1800" y="448056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Jinja2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48463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Templating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80" y="3840480"/>
            <a:ext cx="20574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80" y="397764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48056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Matplotlib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48463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Visualisation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3840480"/>
            <a:ext cx="20574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397764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448056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pytest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48463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28 test cases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92640" y="3840480"/>
            <a:ext cx="20574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92640" y="397764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448056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Gunicorn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48463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WSGI server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606040" cy="1097280"/>
          </a:xfrm>
          <a:prstGeom prst="roundRect">
            <a:avLst/>
          </a:prstGeom>
          <a:solidFill>
            <a:srgbClr val="16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5F9"/>
                </a:solidFill>
                <a:latin typeface="Calibri"/>
              </a:defRPr>
            </a:pPr>
            <a:r>
              <a:t>🖥️ Browser</a:t>
            </a:r>
            <a:br/>
            <a:r>
              <a:t>HTML/CSS/JS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21031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828800"/>
            <a:ext cx="2606040" cy="1097280"/>
          </a:xfrm>
          <a:prstGeom prst="roundRect">
            <a:avLst/>
          </a:prstGeom>
          <a:solidFill>
            <a:srgbClr val="2D1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920240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5F9"/>
                </a:solidFill>
                <a:latin typeface="Calibri"/>
              </a:defRPr>
            </a:pPr>
            <a:r>
              <a:t>🌶️ Flask</a:t>
            </a:r>
            <a:br/>
            <a:r>
              <a:t>Routes +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1031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828800"/>
            <a:ext cx="2606040" cy="1097280"/>
          </a:xfrm>
          <a:prstGeom prst="roundRect">
            <a:avLst/>
          </a:prstGeom>
          <a:solidFill>
            <a:srgbClr val="14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5F9"/>
                </a:solidFill>
                <a:latin typeface="Calibri"/>
              </a:defRPr>
            </a:pPr>
            <a:r>
              <a:t>🧠 Random Forest</a:t>
            </a:r>
            <a:br/>
            <a:r>
              <a:t>predict_proba()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21031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828800"/>
            <a:ext cx="2606040" cy="1097280"/>
          </a:xfrm>
          <a:prstGeom prst="roundRect">
            <a:avLst/>
          </a:prstGeom>
          <a:solidFill>
            <a:srgbClr val="352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1920240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5F9"/>
                </a:solidFill>
                <a:latin typeface="Calibri"/>
              </a:defRPr>
            </a:pPr>
            <a:r>
              <a:t>🗃️ SQLite</a:t>
            </a:r>
            <a:br/>
            <a:r>
              <a:t>Prediction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MVC Pattern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Model: Random Forest + SQLite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View: 7 Jinja2 HTML templates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Controller: Flask route handlers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Key Features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Dual-layer validation (HTML5 + Python)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REST API for programmatic access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Dark mode + accessibility controls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Prediction history with CRUD ops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  <a:latin typeface="Calibri"/>
              </a:defRPr>
            </a:pPr>
            <a:r>
              <a:t>SHOWTIME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1F5F9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Calibri"/>
              </a:defRPr>
            </a:pPr>
            <a:r>
              <a:t>Let me walk you through the CardioPredict application...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40480"/>
            <a:ext cx="22860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434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Home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8463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Project overview,</a:t>
            </a:r>
            <a:br/>
            <a: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3840480"/>
            <a:ext cx="22860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39319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434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Prediction 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8463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13 clinical inputs</a:t>
            </a:r>
            <a:br/>
            <a:r>
              <a:t>with validation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840480"/>
            <a:ext cx="22860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9319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434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Result 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8463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Colour-coded risk</a:t>
            </a:r>
            <a:br/>
            <a:r>
              <a:t>probability bar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3840480"/>
            <a:ext cx="22860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59" y="39319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59" y="4434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1F5F9"/>
                </a:solidFill>
                <a:latin typeface="Calibri"/>
              </a:defRPr>
            </a:pPr>
            <a:r>
              <a:t>History +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48463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Prediction logs,</a:t>
            </a:r>
            <a:br/>
            <a:r>
              <a:t>metrics, charts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Testing — 28 Automated 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1F5F9"/>
                </a:solidFill>
                <a:latin typeface="Calibri"/>
              </a:defRPr>
            </a:pPr>
            <a:r>
              <a:t>🔌  Connectivity (5)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All routes return HTTP 200.</a:t>
            </a:r>
            <a:br/>
            <a:r>
              <a:t>Health API responds.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47472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65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1F5F9"/>
                </a:solidFill>
                <a:latin typeface="Calibri"/>
              </a:defRPr>
            </a:pPr>
            <a:r>
              <a:t>🧪  Prediction (5)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77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Form &amp; JSON API,</a:t>
            </a:r>
            <a:br/>
            <a:r>
              <a:t>missing fields, valid inputs.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47472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65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1F5F9"/>
                </a:solidFill>
                <a:latin typeface="Calibri"/>
              </a:defRPr>
            </a:pPr>
            <a:r>
              <a:t>📝  Content (3)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77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Footer, disclaimer,</a:t>
            </a:r>
            <a:br/>
            <a:r>
              <a:t>all 13 form fields present.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347472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605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1F5F9"/>
                </a:solidFill>
                <a:latin typeface="Calibri"/>
              </a:defRPr>
            </a:pPr>
            <a:r>
              <a:t>⚡  Edge Cases (3)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Extreme age, all-zeros,</a:t>
            </a:r>
            <a:br/>
            <a:r>
              <a:t>404 page handling.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023360"/>
            <a:ext cx="347472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1605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1F5F9"/>
                </a:solidFill>
                <a:latin typeface="Calibri"/>
              </a:defRPr>
            </a:pPr>
            <a:r>
              <a:t>📦  Metadata 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572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Model file exists,</a:t>
            </a:r>
            <a:br/>
            <a:r>
              <a:t>required keys, 13 features.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023360"/>
            <a:ext cx="347472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1605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1F5F9"/>
                </a:solidFill>
                <a:latin typeface="Calibri"/>
              </a:defRPr>
            </a:pPr>
            <a:r>
              <a:t>🗃️  Database (2)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572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Predictions saved to DB,</a:t>
            </a:r>
            <a:br/>
            <a:r>
              <a:t>history shows results.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943600"/>
            <a:ext cx="10698480" cy="45720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2C55E"/>
                </a:solidFill>
                <a:latin typeface="Calibri"/>
              </a:defRPr>
            </a:pPr>
            <a:r>
              <a:t>$ pytest tests/ -v    ======================== 28 passed in 2.34s ========================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Calibri"/>
              </a:defRPr>
            </a:pPr>
            <a:r>
              <a:t>✅  Achievements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Random Forest classifier — 81.97% accuracy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Full-stack Flask web application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Material Design UI with dark mode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SQLite prediction history (CRUD)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REST API for external integration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Docker containerised deployment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28 automated test cases (all passing)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100+ page comprehensive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🔮  Future Enhancements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Larger, multi-hospital datasets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Deep Learning (TabNet, Neural Networks)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REST API microservice architecture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User authentication (OAuth 2.0)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PDF report generation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PostgreSQL migration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Mobile responsive PWA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Real-time model retraining pipeline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8B5CF6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F1F5F9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566160"/>
            <a:ext cx="210312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1F5F9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Master of Computer Applications  | 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Sikkim Manipal University  •  Guide: Amit Kharb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5486400"/>
            <a:ext cx="274320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5486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5F9"/>
                </a:solidFill>
                <a:latin typeface="Calibri"/>
              </a:defRPr>
            </a:pPr>
            <a:r>
              <a:t>📂  GitHub Repository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486400"/>
            <a:ext cx="274320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5486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5F9"/>
                </a:solidFill>
                <a:latin typeface="Calibri"/>
              </a:defRPr>
            </a:pPr>
            <a:r>
              <a:t>🌐 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