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5F5F5F"/>
                </a:solidFill>
                <a:latin typeface="Calibri"/>
              </a:defRPr>
            </a:pPr>
            <a:r>
              <a:t>Sikkim Manipal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Department of Computer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463040"/>
            <a:ext cx="210312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0D2B45"/>
                </a:solidFill>
                <a:latin typeface="Calibri"/>
              </a:defRPr>
            </a:pPr>
            <a:r>
              <a:t>CardioPredict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5F5F5F"/>
                </a:solidFill>
                <a:latin typeface="Calibri"/>
              </a:defRPr>
            </a:pPr>
            <a:r>
              <a:t>Heart Disease Prediction System Using Machine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2103120" cy="254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3657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9A9A9A"/>
                </a:solidFill>
                <a:latin typeface="Calibri"/>
              </a:defRPr>
            </a:pPr>
            <a:r>
              <a:t>Submitted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931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297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5F5F5F"/>
                </a:solidFill>
                <a:latin typeface="Calibri"/>
              </a:defRPr>
            </a:pPr>
            <a:r>
              <a:t>MCA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657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9A9A9A"/>
                </a:solidFill>
                <a:latin typeface="Calibri"/>
              </a:defRPr>
            </a:pPr>
            <a:r>
              <a:t>Under the Guidance 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931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Amit Kharb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297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5F5F5F"/>
                </a:solidFill>
                <a:latin typeface="Calibri"/>
              </a:defRPr>
            </a:pPr>
            <a:r>
              <a:t>Project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2064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MCA Final Year Project  •  Academic Year 2025–2026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Introduction &amp; 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40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794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Methodology &amp;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Algorithm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49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349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Results &amp;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463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240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240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017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94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3794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349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349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6858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• Cardiovascular diseases (CVDs) are the #1 cause of death globally —</a:t>
            </a:r>
          </a:p>
          <a:p>
            <a:pPr algn="l">
              <a:spcBef>
                <a:spcPts val="200"/>
              </a:spcBef>
              <a:defRPr sz="1400" b="0" i="0">
                <a:solidFill>
                  <a:srgbClr val="5F5F5F"/>
                </a:solidFill>
                <a:latin typeface="Calibri"/>
              </a:defRPr>
            </a:pPr>
            <a:r>
              <a:t>  approximately 17.9 million deaths per year (WHO)</a:t>
            </a:r>
          </a:p>
          <a:p>
            <a:pPr algn="l">
              <a:spcBef>
                <a:spcPts val="1400"/>
              </a:spcBef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• In India, CVDs account for 28% of all deaths</a:t>
            </a:r>
          </a:p>
          <a:p>
            <a:pPr algn="l">
              <a:spcBef>
                <a:spcPts val="1400"/>
              </a:spcBef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• Conventional diagnostic tests (ECG, angiography) are expensive</a:t>
            </a:r>
          </a:p>
          <a:p>
            <a:pPr algn="l">
              <a:spcBef>
                <a:spcPts val="200"/>
              </a:spcBef>
              <a:defRPr sz="1400" b="0" i="0">
                <a:solidFill>
                  <a:srgbClr val="5F5F5F"/>
                </a:solidFill>
                <a:latin typeface="Calibri"/>
              </a:defRPr>
            </a:pPr>
            <a:r>
              <a:t>  and unavailable in most rural primary healthcare centres</a:t>
            </a:r>
          </a:p>
          <a:p>
            <a:pPr algn="l">
              <a:spcBef>
                <a:spcPts val="1400"/>
              </a:spcBef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• Machine learning can analyse routine clinical data to estimate</a:t>
            </a:r>
          </a:p>
          <a:p>
            <a:pPr algn="l">
              <a:spcBef>
                <a:spcPts val="200"/>
              </a:spcBef>
              <a:defRPr sz="1400" b="0" i="0">
                <a:solidFill>
                  <a:srgbClr val="5F5F5F"/>
                </a:solidFill>
                <a:latin typeface="Calibri"/>
              </a:defRPr>
            </a:pPr>
            <a:r>
              <a:t>  heart disease probability with accuracy comparable to specialists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371600"/>
            <a:ext cx="3474720" cy="34747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5544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92024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No affordable screening tool exists for primary care physicians to quickly assess heart disease risk.</a:t>
            </a:r>
          </a:p>
          <a:p>
            <a:pPr algn="l">
              <a:spcBef>
                <a:spcPts val="600"/>
              </a:spcBef>
              <a:defRPr sz="6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Most ML models from research remain as Jupyter notebooks — no UI, no validation, no deployment.</a:t>
            </a:r>
          </a:p>
          <a:p>
            <a:pPr algn="l">
              <a:spcBef>
                <a:spcPts val="600"/>
              </a:spcBef>
              <a:defRPr sz="6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CardioPredict bridges this gap with a complete web application.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71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Analyse the Cleveland Heart Disease dataset (303 records, 13 clinical features)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574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Train and compare 7 classification algorithms using 10-fold stratified cross-validation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43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Build a responsive Flask web application for clinical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290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Implement dual-layer input validation (client-side + server-side)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1148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Store prediction history in SQLite for patient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800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Containerise with Docker for one-command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86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4864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Achieve 28 automated test cases covering all critical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5F5F5F"/>
                </a:solidFill>
                <a:latin typeface="Calibri"/>
              </a:defRPr>
            </a:pPr>
            <a:r>
              <a:t>Cleveland Heart Disease Dataset  —  UCI Machine Learning Repository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25603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F4E79"/>
                </a:solidFill>
                <a:latin typeface="Calibri"/>
              </a:defRPr>
            </a:pPr>
            <a:r>
              <a:t>303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5F5F5F"/>
                </a:solidFill>
                <a:latin typeface="Calibri"/>
              </a:defRPr>
            </a:pPr>
            <a:r>
              <a:t>Patient 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737360"/>
            <a:ext cx="25603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783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F4E79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5F5F5F"/>
                </a:solidFill>
                <a:latin typeface="Calibri"/>
              </a:defRPr>
            </a:pPr>
            <a:r>
              <a:t>Clinical 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37360"/>
            <a:ext cx="25603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783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F4E79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5F5F5F"/>
                </a:solidFill>
                <a:latin typeface="Calibri"/>
              </a:defRPr>
            </a:pPr>
            <a:r>
              <a:t>Classes (Disease / No Disease)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1737360"/>
            <a:ext cx="25603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783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F4E79"/>
                </a:solidFill>
                <a:latin typeface="Calibri"/>
              </a:defRPr>
            </a:pPr>
            <a:r>
              <a:t>80 : 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5F5F5F"/>
                </a:solidFill>
                <a:latin typeface="Calibri"/>
              </a:defRPr>
            </a:pPr>
            <a:r>
              <a:t>Train-Test Split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" y="2743200"/>
          <a:ext cx="106984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371600"/>
                <a:gridCol w="4114800"/>
                <a:gridCol w="475488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Age in years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29–77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sex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Gender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= F, 1 = M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Chest pain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0–3 (4 types)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trestbps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Resting blood pressure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94–200 mm Hg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chol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Serum cholesterol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126–564 mg/dl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fbs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Fasting blood sugar &gt; 120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restecg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Resting ECG results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 (3 types)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thalach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Max heart rate achieved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71–202 bpm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exang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Exercise-induced angina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oldpeak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 depression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0–6.2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slope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 segment slope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 (3 types)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Major vessels by fluoroscopy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0–3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Thalassemia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 (3 types)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23444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Data</a:t>
            </a:r>
            <a:br/>
            <a:r>
              <a:t>Loading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5544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371600"/>
            <a:ext cx="123444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5544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371600"/>
            <a:ext cx="123444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Pre-</a:t>
            </a:r>
            <a:br/>
            <a:r>
              <a:t>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5544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0600" y="1371600"/>
            <a:ext cx="123444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Feature</a:t>
            </a:r>
            <a:br/>
            <a:r>
              <a:t>Scaling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5544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123444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Train/Test</a:t>
            </a:r>
            <a:br/>
            <a:r>
              <a:t>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15544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1371600"/>
            <a:ext cx="1234440" cy="777240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Model</a:t>
            </a:r>
            <a:br/>
            <a:r>
              <a:t>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15544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1371600"/>
            <a:ext cx="123444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15544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69880" y="1371600"/>
            <a:ext cx="123444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6988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Serialise</a:t>
            </a:r>
            <a:br/>
            <a:r>
              <a:t>(.pkl)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560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F4E79"/>
                </a:solidFill>
                <a:latin typeface="Calibri"/>
              </a:defRPr>
            </a:pPr>
            <a:r>
              <a:t>Preprocessing</a:t>
            </a:r>
          </a:p>
          <a:p>
            <a:pPr algn="l">
              <a:spcBef>
                <a:spcPts val="8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• Median imputation for missing values in ca, thal columns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• StandardScaler normalisation (zero mean, unit variance)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• Stratified 80/20 train-test split (242 / 61 samples)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• random_state = 42 for reproducibility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560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F4E79"/>
                </a:solidFill>
                <a:latin typeface="Calibri"/>
              </a:defRPr>
            </a:pPr>
            <a:r>
              <a:t>Evaluation</a:t>
            </a:r>
          </a:p>
          <a:p>
            <a:pPr algn="l">
              <a:spcBef>
                <a:spcPts val="8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• 10-fold stratified cross-validation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• Metrics: Accuracy, Precision, Recall, F1-Score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• Confusion matrix analysis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• ROC-AUC curve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Algorithm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371600"/>
          <a:ext cx="94183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743200"/>
                <a:gridCol w="1828800"/>
                <a:gridCol w="13716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CV Accuracy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Std Dev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85.04%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±5.96%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Ensemble (Bagging)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81.46%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±6.72%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Ensemble (Boosting)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KNN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80.58%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±7.13%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Instance-based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SVM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80.15%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±8.43%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Kernel-based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79.69%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±7.01%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Linear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AdaBoost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78.97%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±6.87%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Ensemble (Boosting)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73.95%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±7.26%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Tree-based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371600" y="4846320"/>
            <a:ext cx="9418320" cy="64008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892040"/>
            <a:ext cx="905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Random Forest selected — highest cross-validation accuracy (85.04%) with good stability across folds. Ensemble of 100 decision trees reduces overfitting risk.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5F5F5F"/>
                </a:solidFill>
                <a:latin typeface="Calibri"/>
              </a:defRPr>
            </a:pPr>
            <a:r>
              <a:t>Test Set Performance (61 samples)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2057400" cy="9144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1F4E79"/>
                </a:solidFill>
                <a:latin typeface="Calibri"/>
              </a:defRPr>
            </a:pPr>
            <a:r>
              <a:t>81.97%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5F5F5F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2971800" y="1554480"/>
            <a:ext cx="2057400" cy="9144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60020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1F4E79"/>
                </a:solidFill>
                <a:latin typeface="Calibri"/>
              </a:defRPr>
            </a:pPr>
            <a:r>
              <a:t>76.19%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5740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5F5F5F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80" y="1554480"/>
            <a:ext cx="2057400" cy="9144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160020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1F4E79"/>
                </a:solidFill>
                <a:latin typeface="Calibri"/>
              </a:defRPr>
            </a:pPr>
            <a:r>
              <a:t>96.97%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05740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5F5F5F"/>
                </a:solidFill>
                <a:latin typeface="Calibri"/>
              </a:defRPr>
            </a:pPr>
            <a:r>
              <a:t>Recall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1554480"/>
            <a:ext cx="2057400" cy="9144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60020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1F4E79"/>
                </a:solidFill>
                <a:latin typeface="Calibri"/>
              </a:defRPr>
            </a:pPr>
            <a:r>
              <a:t>85.33%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05740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5F5F5F"/>
                </a:solidFill>
                <a:latin typeface="Calibri"/>
              </a:defRPr>
            </a:pPr>
            <a:r>
              <a:t>F1-Score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1554480"/>
            <a:ext cx="2057400" cy="9144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160020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1F4E79"/>
                </a:solidFill>
                <a:latin typeface="Calibri"/>
              </a:defRPr>
            </a:pPr>
            <a:r>
              <a:t>91.56%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205740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5F5F5F"/>
                </a:solidFill>
                <a:latin typeface="Calibri"/>
              </a:defRPr>
            </a:pPr>
            <a:r>
              <a:t>ROC-AUC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8346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Confusion Matrix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31520" y="3200400"/>
          <a:ext cx="5029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91640"/>
                <a:gridCol w="16916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Predicted: No Disease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Predicted: Disease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Actual: No Disease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TN = 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FP =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Actual: Disease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FN = 1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TP = 32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00800" y="2834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Key Observation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 i="0">
                <a:solidFill>
                  <a:srgbClr val="1F4E79"/>
                </a:solidFill>
                <a:latin typeface="Calibri"/>
              </a:defRPr>
            </a:pPr>
            <a:r>
              <a:t>Recall = 96.97%</a:t>
            </a:r>
          </a:p>
          <a:p>
            <a:pPr algn="l">
              <a:spcBef>
                <a:spcPts val="400"/>
              </a:spcBef>
              <a:defRPr sz="6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Out of 33 patients with heart disease, the model correctly identified 32.</a:t>
            </a:r>
          </a:p>
          <a:p>
            <a:pPr algn="l">
              <a:spcBef>
                <a:spcPts val="400"/>
              </a:spcBef>
              <a:defRPr sz="6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300" b="0" i="0">
                <a:solidFill>
                  <a:srgbClr val="5F5F5F"/>
                </a:solidFill>
                <a:latin typeface="Calibri"/>
              </a:defRPr>
            </a:pPr>
            <a:r>
              <a:t>Only 1 false negative — critical in medical screening where a missed diagnosis is far more dangerous than a false alarm.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926080"/>
                <a:gridCol w="1097280"/>
                <a:gridCol w="612648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Importance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Clinical Significance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thalach (Max Heart Rate)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Lower max HR indicates reduced cardiac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cp (Chest Pain Type)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12.8%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Asymptomatic chest pain is the highest risk category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oldpeak (ST Depression)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Indicates exercise-induced myocardial ischaemia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 (Major Vessels)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11.2%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Number of vessels coloured shows coronary patency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 (Thalassemia)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Blood disorder affecting oxygen transport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8.5%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Risk increases with age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Males at statistically higher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chol (Cholesterol)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5.8%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Higher cholesterol contributes to plaque buildup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74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Exercise-related and angiographic features dominate — consistent with clinical literature on cardiac risk factors.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371600"/>
          <a:ext cx="94183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93192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Python 3.9+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Backend, ML training, scripting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ML Libraries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scikit-learn, pandas, numpy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 processing and model training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Web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Flask 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HTTP routing, template rendering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Frontend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HTML5, CSS3, JavaScript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User interface (no frameworks)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SQLite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 history storage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Testing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pytest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28 automated test cases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Containerisation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Docker + Gunicorn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Production deployment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Version Control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Git + GitHub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Source code management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5F5F5F"/>
                </a:solidFill>
                <a:latin typeface="Calibri"/>
              </a:defRPr>
            </a:pPr>
            <a:r>
              <a:t>Model-View-Controller (MVC)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606040" cy="18288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Browser (Client)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HTML/CSS/JS</a:t>
            </a:r>
            <a:br/>
            <a:r>
              <a:t>User input forms</a:t>
            </a:r>
            <a:br/>
            <a:r>
              <a:t>localStorage preferences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2286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645920"/>
            <a:ext cx="2606040" cy="18288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17373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Flask (Controller)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10312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Route handlers</a:t>
            </a:r>
            <a:br/>
            <a:r>
              <a:t>Input validation</a:t>
            </a:r>
            <a:br/>
            <a:r>
              <a:t>Template rendering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286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645920"/>
            <a:ext cx="2606040" cy="18288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17373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ML Model (Model)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10312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StandardScaler transform</a:t>
            </a:r>
            <a:br/>
            <a:r>
              <a:t>Random Forest inference</a:t>
            </a:r>
            <a:br/>
            <a:r>
              <a:t>predict_proba()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9760" y="1645920"/>
            <a:ext cx="2606040" cy="18288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17373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SQLite (Storage)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10312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Prediction records</a:t>
            </a:r>
            <a:br/>
            <a:r>
              <a:t>Timestamps</a:t>
            </a:r>
            <a:br/>
            <a:r>
              <a:t>CRUD operations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106984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F4E79"/>
                </a:solidFill>
                <a:latin typeface="Calibri"/>
              </a:defRPr>
            </a:pPr>
            <a:r>
              <a:t>Request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389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User fills 13 fields → Browser validates (HTML5) → POST /predict → Flask validates server-side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→ NumPy array built → StandardScaler transforms → Random Forest predicts → SQLite saves result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→ Result page rendered with colour-coded risk indicator (green / amber / red)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0D2B45"/>
                </a:solidFill>
                <a:latin typeface="Calibri"/>
              </a:defRPr>
            </a:pPr>
            <a:r>
              <a:t>Live Demonstration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651760"/>
            <a:ext cx="210312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3200400"/>
            <a:ext cx="228600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Home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5F5F5F"/>
                </a:solidFill>
                <a:latin typeface="Calibri"/>
              </a:defRPr>
            </a:pPr>
            <a:r>
              <a:t>Project overview and</a:t>
            </a:r>
            <a:br/>
            <a:r>
              <a:t>how-it-works guide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3200400"/>
            <a:ext cx="228600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Prediction 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749039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5F5F5F"/>
                </a:solidFill>
                <a:latin typeface="Calibri"/>
              </a:defRPr>
            </a:pPr>
            <a:r>
              <a:t>13 clinical input fields</a:t>
            </a:r>
            <a:br/>
            <a:r>
              <a:t>with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200400"/>
            <a:ext cx="228600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Result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49039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5F5F5F"/>
                </a:solidFill>
                <a:latin typeface="Calibri"/>
              </a:defRPr>
            </a:pPr>
            <a:r>
              <a:t>Risk level with</a:t>
            </a:r>
            <a:br/>
            <a:r>
              <a:t>probability indicator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59" y="3200400"/>
            <a:ext cx="228600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59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History 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3749039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5F5F5F"/>
                </a:solidFill>
                <a:latin typeface="Calibri"/>
              </a:defRPr>
            </a:pPr>
            <a:r>
              <a:t>Past predictions</a:t>
            </a:r>
            <a:br/>
            <a:r>
              <a:t>with timestamps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035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F4E79"/>
                </a:solidFill>
                <a:latin typeface="Calibri"/>
              </a:defRPr>
            </a:pPr>
            <a:r>
              <a:t>http://127.0.0.1:5001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5F5F5F"/>
                </a:solidFill>
                <a:latin typeface="Calibri"/>
              </a:defRPr>
            </a:pPr>
            <a:r>
              <a:t>28 automated test cases using pytest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640080"/>
                <a:gridCol w="77724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Is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Route Connectivity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All pages return HTTP 200, health API responds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 Logic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Form submission, JSON API, missing field handling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Content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Footer text, medical disclaimer, all 13 form fields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Edge Cases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Extreme age (100), all-zero input, 404 handling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Model Metadata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metadata.json exists, contains all required keys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Predictions saved correctly, history page works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Input bounds, type validation, SQL injection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Accessibility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Dark mode toggle, responsive layout, screen reader tags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5212080"/>
            <a:ext cx="10698480" cy="457200"/>
          </a:xfrm>
          <a:prstGeom prst="rect">
            <a:avLst/>
          </a:prstGeom>
          <a:solidFill>
            <a:srgbClr val="E8F5E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27AE60"/>
                </a:solidFill>
                <a:latin typeface="Calibri"/>
              </a:defRPr>
            </a:pPr>
            <a:r>
              <a:t>Result:  28 passed  •  0 failed  •  2.34 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F4E79"/>
                </a:solidFill>
                <a:latin typeface="Calibri"/>
              </a:defRPr>
            </a:pPr>
            <a:r>
              <a:t>What Was Achieved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✓  Random Forest classifier — 81.97% accuracy, 96.97% recall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✓  Full-stack Flask web application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✓  Dark mode UI with accessibility features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✓  SQLite prediction history with CRUD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✓  REST API endpoint for programmatic access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✓  Docker + Gunicorn production deployment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✓  28 automated tests — all passing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✓  100+ page comprehensive 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F4E79"/>
                </a:solidFill>
                <a:latin typeface="Calibri"/>
              </a:defRPr>
            </a:pPr>
            <a:r>
              <a:t>Future Scope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→  Larger, multi-hospital training datasets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→  Deep learning models (TabNet, neural networks)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→  Microservice-based API architecture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→  User authentication with OAuth 2.0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→  PDF report generation for clinicians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→  PostgreSQL for production-scale database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→  Progressive Web App for mobile access</a:t>
            </a:r>
          </a:p>
          <a:p>
            <a:pPr algn="l">
              <a:spcBef>
                <a:spcPts val="600"/>
              </a:spcBef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→  Continuous model retraining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D2B45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743200"/>
            <a:ext cx="210312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5F5F5F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1A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5F5F5F"/>
                </a:solidFill>
                <a:latin typeface="Calibri"/>
              </a:defRPr>
            </a:pPr>
            <a:r>
              <a:t>Master of Computer Applications  |  Sikkim Manipal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Guide: Amit Kharb  |  Academic Year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1F4E79"/>
                </a:solidFill>
                <a:latin typeface="Calibri"/>
              </a:defRPr>
            </a:pPr>
            <a:r>
              <a:t>github.com/sandeeep-kr/HeartDiseaseProject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